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85" r:id="rId2"/>
    <p:sldId id="274" r:id="rId3"/>
    <p:sldId id="257" r:id="rId4"/>
    <p:sldId id="258" r:id="rId5"/>
    <p:sldId id="259" r:id="rId6"/>
    <p:sldId id="260" r:id="rId7"/>
    <p:sldId id="275" r:id="rId8"/>
    <p:sldId id="276" r:id="rId9"/>
    <p:sldId id="261" r:id="rId10"/>
    <p:sldId id="277" r:id="rId11"/>
    <p:sldId id="278" r:id="rId12"/>
    <p:sldId id="279" r:id="rId13"/>
    <p:sldId id="280" r:id="rId14"/>
    <p:sldId id="268" r:id="rId15"/>
    <p:sldId id="269" r:id="rId16"/>
    <p:sldId id="270" r:id="rId17"/>
    <p:sldId id="271" r:id="rId18"/>
    <p:sldId id="272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0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2" autoAdjust="0"/>
    <p:restoredTop sz="94660"/>
  </p:normalViewPr>
  <p:slideViewPr>
    <p:cSldViewPr>
      <p:cViewPr varScale="1">
        <p:scale>
          <a:sx n="57" d="100"/>
          <a:sy n="57" d="100"/>
        </p:scale>
        <p:origin x="2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00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77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00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81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97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38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787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1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41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37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146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149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305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72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524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310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664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182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10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35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464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1779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30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965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9485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5995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7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4B2D03CC-15DB-4974-A067-D63C7D7C194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7AD14B31-F693-46D6-A820-74A138994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6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Nimbo: Earth map and live satellite view">
            <a:extLst>
              <a:ext uri="{FF2B5EF4-FFF2-40B4-BE49-F238E27FC236}">
                <a16:creationId xmlns:a16="http://schemas.microsoft.com/office/drawing/2014/main" id="{C65532FB-74AB-2C5E-06E5-7AA832C012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 rot="5400000">
            <a:off x="1600325" y="-1600322"/>
            <a:ext cx="6858531" cy="10059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ABEF4C-8024-1E41-6948-25E9377C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725" y="2979893"/>
            <a:ext cx="6306550" cy="898213"/>
          </a:xfrm>
        </p:spPr>
        <p:txBody>
          <a:bodyPr>
            <a:noAutofit/>
          </a:bodyPr>
          <a:lstStyle/>
          <a:p>
            <a:pPr algn="ctr"/>
            <a:r>
              <a:rPr lang="en-IN" sz="4400" dirty="0">
                <a:solidFill>
                  <a:schemeClr val="tx1"/>
                </a:solidFill>
              </a:rPr>
              <a:t>Cross-spectral DSMAC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C257D-457B-D57B-7CB6-6F85BD8F1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2544" y="230358"/>
            <a:ext cx="880062" cy="95837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722DEB-F9AE-4711-26AF-5421356894D2}"/>
              </a:ext>
            </a:extLst>
          </p:cNvPr>
          <p:cNvSpPr txBox="1">
            <a:spLocks/>
          </p:cNvSpPr>
          <p:nvPr/>
        </p:nvSpPr>
        <p:spPr>
          <a:xfrm>
            <a:off x="2942725" y="1988840"/>
            <a:ext cx="6306550" cy="610181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dirty="0">
                <a:solidFill>
                  <a:schemeClr val="tx1"/>
                </a:solidFill>
              </a:rPr>
              <a:t>Literature Survey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CD775E3-AEA4-9622-DACA-1CA93B04F42B}"/>
              </a:ext>
            </a:extLst>
          </p:cNvPr>
          <p:cNvSpPr txBox="1">
            <a:spLocks/>
          </p:cNvSpPr>
          <p:nvPr/>
        </p:nvSpPr>
        <p:spPr>
          <a:xfrm>
            <a:off x="5087888" y="2420888"/>
            <a:ext cx="2016224" cy="610181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600" dirty="0">
                <a:solidFill>
                  <a:schemeClr val="tx1"/>
                </a:solidFill>
              </a:rPr>
              <a:t>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AB21C9-90FD-CB0B-B3FF-8E3FAE5794D3}"/>
              </a:ext>
            </a:extLst>
          </p:cNvPr>
          <p:cNvCxnSpPr>
            <a:cxnSpLocks/>
          </p:cNvCxnSpPr>
          <p:nvPr/>
        </p:nvCxnSpPr>
        <p:spPr>
          <a:xfrm>
            <a:off x="6312024" y="2780928"/>
            <a:ext cx="26642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FC8B61-9ED7-6775-7EAB-5F3D89FB49D7}"/>
              </a:ext>
            </a:extLst>
          </p:cNvPr>
          <p:cNvCxnSpPr>
            <a:cxnSpLocks/>
          </p:cNvCxnSpPr>
          <p:nvPr/>
        </p:nvCxnSpPr>
        <p:spPr>
          <a:xfrm>
            <a:off x="3213855" y="2780928"/>
            <a:ext cx="26642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7AB65E-AB72-0BF0-CDCB-699B2B0B08D2}"/>
              </a:ext>
            </a:extLst>
          </p:cNvPr>
          <p:cNvSpPr txBox="1"/>
          <p:nvPr/>
        </p:nvSpPr>
        <p:spPr>
          <a:xfrm>
            <a:off x="2350672" y="241828"/>
            <a:ext cx="7490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Directorate of Artificial Intelligence &amp; Visualisation,</a:t>
            </a:r>
          </a:p>
          <a:p>
            <a:pPr algn="ctr"/>
            <a:r>
              <a:rPr lang="en-IN" dirty="0"/>
              <a:t>Research Centre </a:t>
            </a:r>
            <a:r>
              <a:rPr lang="en-IN" dirty="0" err="1"/>
              <a:t>Imarat</a:t>
            </a:r>
            <a:r>
              <a:rPr lang="en-IN" dirty="0"/>
              <a:t> (RCI), Defence Research &amp; Development Organisation (DRDO)</a:t>
            </a:r>
          </a:p>
          <a:p>
            <a:pPr algn="ctr"/>
            <a:r>
              <a:rPr lang="en-IN" dirty="0"/>
              <a:t>&amp;</a:t>
            </a:r>
          </a:p>
          <a:p>
            <a:pPr algn="ctr"/>
            <a:r>
              <a:rPr lang="en-IN" dirty="0"/>
              <a:t>Defence Institute of Advanced Technology (DIAT)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670609-7348-20E2-4543-E3EA1B4EEB19}"/>
              </a:ext>
            </a:extLst>
          </p:cNvPr>
          <p:cNvSpPr txBox="1"/>
          <p:nvPr/>
        </p:nvSpPr>
        <p:spPr>
          <a:xfrm>
            <a:off x="1308288" y="4941168"/>
            <a:ext cx="3097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Presented by: </a:t>
            </a:r>
          </a:p>
          <a:p>
            <a:pPr algn="ctr"/>
            <a:r>
              <a:rPr lang="en-IN" dirty="0" err="1"/>
              <a:t>Mohineet</a:t>
            </a:r>
            <a:r>
              <a:rPr lang="en-IN" dirty="0"/>
              <a:t> Kaur (25-26-08)</a:t>
            </a:r>
          </a:p>
          <a:p>
            <a:pPr algn="ctr"/>
            <a:r>
              <a:rPr lang="en-IN" dirty="0"/>
              <a:t>M. Tech (Artificial Intelligence)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858CCE-F83A-46F4-4419-8FA9642792B7}"/>
              </a:ext>
            </a:extLst>
          </p:cNvPr>
          <p:cNvSpPr txBox="1"/>
          <p:nvPr/>
        </p:nvSpPr>
        <p:spPr>
          <a:xfrm>
            <a:off x="7786457" y="4935962"/>
            <a:ext cx="309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Presented to: </a:t>
            </a:r>
          </a:p>
          <a:p>
            <a:pPr algn="ctr"/>
            <a:r>
              <a:rPr lang="en-IN" dirty="0"/>
              <a:t>A. </a:t>
            </a:r>
            <a:r>
              <a:rPr lang="en-IN" dirty="0" err="1"/>
              <a:t>Kalidasu</a:t>
            </a:r>
            <a:r>
              <a:rPr lang="en-IN" dirty="0"/>
              <a:t> (Scientist-E)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D2A9CD-6525-82D7-3CDA-4EF4F57AC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24" y="241828"/>
            <a:ext cx="810908" cy="81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7D0C23-C005-97B3-8C66-107958C34782}"/>
              </a:ext>
            </a:extLst>
          </p:cNvPr>
          <p:cNvSpPr/>
          <p:nvPr/>
        </p:nvSpPr>
        <p:spPr>
          <a:xfrm>
            <a:off x="-1752872" y="328609"/>
            <a:ext cx="6164002" cy="779727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98431-A74C-844A-6268-E052C346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15942"/>
            <a:ext cx="3787781" cy="779726"/>
          </a:xfrm>
        </p:spPr>
        <p:txBody>
          <a:bodyPr/>
          <a:lstStyle/>
          <a:p>
            <a:r>
              <a:rPr lang="en-IN" dirty="0"/>
              <a:t>Table of Contents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A277D-3AD9-CE3C-574B-83CB45D5859B}"/>
              </a:ext>
            </a:extLst>
          </p:cNvPr>
          <p:cNvSpPr txBox="1"/>
          <p:nvPr/>
        </p:nvSpPr>
        <p:spPr>
          <a:xfrm>
            <a:off x="801029" y="1340768"/>
            <a:ext cx="10515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DSMAC Navigation Framework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DSMAC – General Working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Literature Review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Original DSMAC (1980)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Advanced Scene Matching (1994)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AI Based DSMAC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Evolution of DSMAC Image Matching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Current State-of-the-art Feature Matching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Comparative Study of Existing Image Matching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Limitations of Existing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Research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Proposed Methodology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Proposed Framework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Expected 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FAA7C6-FF8F-C9B1-4ECA-3F7E1ABF15C4}"/>
              </a:ext>
            </a:extLst>
          </p:cNvPr>
          <p:cNvSpPr/>
          <p:nvPr/>
        </p:nvSpPr>
        <p:spPr>
          <a:xfrm rot="5400000">
            <a:off x="1988730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F6788B-C170-7B9E-82E7-60DB314A5799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C539B6-35DA-B993-6957-994849ABBF35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FB7BFE-D49F-BD9F-CA9A-32F574F5EB0C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0ACF3-91F8-540F-EEA0-950B7FA8131F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64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43BF032-00D7-167C-EE0F-21212099474E}"/>
              </a:ext>
            </a:extLst>
          </p:cNvPr>
          <p:cNvSpPr/>
          <p:nvPr/>
        </p:nvSpPr>
        <p:spPr>
          <a:xfrm>
            <a:off x="-1652178" y="328609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2312-2377-78D5-B869-38A020D0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43" y="274968"/>
            <a:ext cx="5507895" cy="78551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16ADF-C27A-FB58-D039-15BD84960A4D}"/>
              </a:ext>
            </a:extLst>
          </p:cNvPr>
          <p:cNvSpPr txBox="1"/>
          <p:nvPr/>
        </p:nvSpPr>
        <p:spPr>
          <a:xfrm>
            <a:off x="801029" y="1450613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What is DSMAC?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DSMAC (Digital Scene Matching Area Correlation) is a vision-based navigation technique that estimates a vehicle's position by matching onboard sensor imagery with reference maps.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is widely used in GPS-denied environments where satellite navigation is unavailable or unreliable.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DSMAC compares observed scene features with stored terrain or scene information to determine accurate localization.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C65B0-2E8F-805A-DC63-D3D22B28404C}"/>
              </a:ext>
            </a:extLst>
          </p:cNvPr>
          <p:cNvSpPr txBox="1"/>
          <p:nvPr/>
        </p:nvSpPr>
        <p:spPr>
          <a:xfrm>
            <a:off x="801029" y="3157748"/>
            <a:ext cx="1021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Why is DSMAC Important?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autonomous navigation without dependence on GPS.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Enhances robustness in contested or signal-denied environments.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Applicable to aerial vehicles, missiles, autonomous robots, and unmanned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Enables precise localization using onboard vision sensors.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A8CBD-2CBE-7707-2410-614732715967}"/>
              </a:ext>
            </a:extLst>
          </p:cNvPr>
          <p:cNvSpPr txBox="1"/>
          <p:nvPr/>
        </p:nvSpPr>
        <p:spPr>
          <a:xfrm>
            <a:off x="801029" y="5025208"/>
            <a:ext cx="1021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Motivation</a:t>
            </a:r>
          </a:p>
          <a:p>
            <a:pPr>
              <a:buNone/>
            </a:pPr>
            <a:r>
              <a:rPr lang="en-IN" dirty="0"/>
              <a:t>Modern navigation systems increasingly employ multiple sensing modalities, such as RGB and infrared (IR) cameras, to improve robustness under varying environmental and illumination conditions.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E6555D-9C7E-846C-91A1-89F17D0FDB0A}"/>
              </a:ext>
            </a:extLst>
          </p:cNvPr>
          <p:cNvSpPr/>
          <p:nvPr/>
        </p:nvSpPr>
        <p:spPr>
          <a:xfrm rot="5400000">
            <a:off x="937919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0318F4-50CE-1A91-3F8A-C444988F795E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6E99DA-B0FC-F8FE-99F5-7EB4BB93A37B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975919-480F-D017-DE3A-9A294D1508E0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794BF6-12D2-559D-A0C5-0D7F40E1BB1D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0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4EE25-739F-6B94-72FF-E86DE76F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923F14-6DE5-6533-FF6C-EB9AEC979FA8}"/>
              </a:ext>
            </a:extLst>
          </p:cNvPr>
          <p:cNvSpPr/>
          <p:nvPr/>
        </p:nvSpPr>
        <p:spPr>
          <a:xfrm>
            <a:off x="985906" y="2280556"/>
            <a:ext cx="2436709" cy="1012372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Reference Scene Database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102E1-74E3-D53A-C903-2E7102EE5E7A}"/>
              </a:ext>
            </a:extLst>
          </p:cNvPr>
          <p:cNvSpPr/>
          <p:nvPr/>
        </p:nvSpPr>
        <p:spPr>
          <a:xfrm>
            <a:off x="4877645" y="2280556"/>
            <a:ext cx="2436709" cy="1012372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Scene Matching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68A02D-5FC9-99FE-CF23-DEF7B06A4D1A}"/>
              </a:ext>
            </a:extLst>
          </p:cNvPr>
          <p:cNvSpPr/>
          <p:nvPr/>
        </p:nvSpPr>
        <p:spPr>
          <a:xfrm>
            <a:off x="8769385" y="2280556"/>
            <a:ext cx="2436709" cy="1012372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Current Sensor 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0E5D09-5691-0C3E-0307-7DC989A61891}"/>
              </a:ext>
            </a:extLst>
          </p:cNvPr>
          <p:cNvSpPr/>
          <p:nvPr/>
        </p:nvSpPr>
        <p:spPr>
          <a:xfrm>
            <a:off x="985906" y="4178651"/>
            <a:ext cx="2436709" cy="1012372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Navigation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D23C5C-9C27-1F4A-9406-59DE8933F9EB}"/>
              </a:ext>
            </a:extLst>
          </p:cNvPr>
          <p:cNvSpPr/>
          <p:nvPr/>
        </p:nvSpPr>
        <p:spPr>
          <a:xfrm>
            <a:off x="4877645" y="4178651"/>
            <a:ext cx="2436709" cy="1012372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Guidance &amp; Control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7D9EC1-FB9B-AF5F-E805-7E2705B365AE}"/>
              </a:ext>
            </a:extLst>
          </p:cNvPr>
          <p:cNvSpPr/>
          <p:nvPr/>
        </p:nvSpPr>
        <p:spPr>
          <a:xfrm>
            <a:off x="8769385" y="4178651"/>
            <a:ext cx="2436709" cy="1012372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Position Estimation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BE72F6-74B2-5BCA-0700-1F8E67DA8DC8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422615" y="2786742"/>
            <a:ext cx="1455030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3BCE9B9-FB92-F1C0-8168-AACFDB084B09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>
            <a:off x="7314354" y="2786742"/>
            <a:ext cx="1455031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1D7BB9-F033-3310-4C26-CA9CFAF7E32B}"/>
              </a:ext>
            </a:extLst>
          </p:cNvPr>
          <p:cNvCxnSpPr>
            <a:stCxn id="16" idx="2"/>
            <a:endCxn id="24" idx="0"/>
          </p:cNvCxnSpPr>
          <p:nvPr/>
        </p:nvCxnSpPr>
        <p:spPr>
          <a:xfrm>
            <a:off x="9987740" y="3292928"/>
            <a:ext cx="0" cy="885723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3D387EF-98E8-A2C7-98FE-78E1AC141A40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>
            <a:off x="7314354" y="4684837"/>
            <a:ext cx="1455031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58139F-C373-1380-98A7-5F2056D08F93}"/>
              </a:ext>
            </a:extLst>
          </p:cNvPr>
          <p:cNvCxnSpPr>
            <a:stCxn id="22" idx="1"/>
            <a:endCxn id="20" idx="3"/>
          </p:cNvCxnSpPr>
          <p:nvPr/>
        </p:nvCxnSpPr>
        <p:spPr>
          <a:xfrm flipH="1">
            <a:off x="3422615" y="4684837"/>
            <a:ext cx="1455030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23FB951-029A-B3CD-29C9-739B0AEC5067}"/>
              </a:ext>
            </a:extLst>
          </p:cNvPr>
          <p:cNvSpPr/>
          <p:nvPr/>
        </p:nvSpPr>
        <p:spPr>
          <a:xfrm>
            <a:off x="-1652178" y="328609"/>
            <a:ext cx="7517716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303546E-6B64-FF0F-126C-F4F673A69950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5507895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 DSMAC Navigation Framework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7DDAA3-07B5-7C21-EC72-7929D906E006}"/>
              </a:ext>
            </a:extLst>
          </p:cNvPr>
          <p:cNvSpPr/>
          <p:nvPr/>
        </p:nvSpPr>
        <p:spPr>
          <a:xfrm rot="5400000">
            <a:off x="3424638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B5669C-FC78-0544-1796-CD854802723B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F45BD5-ED72-9805-4CD2-0D297AD11C08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10502B-93DC-DF24-A913-3DA0E48B9428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D2289E-713A-9474-51FB-ECDC49BC44D8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32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90E27-6758-8C3B-3B1D-C951EA45A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1" b="15727"/>
          <a:stretch>
            <a:fillRect/>
          </a:stretch>
        </p:blipFill>
        <p:spPr>
          <a:xfrm>
            <a:off x="1075262" y="1260120"/>
            <a:ext cx="10041475" cy="48160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9FA125-9DA2-5EC1-39F1-BD6E7152CB32}"/>
              </a:ext>
            </a:extLst>
          </p:cNvPr>
          <p:cNvSpPr/>
          <p:nvPr/>
        </p:nvSpPr>
        <p:spPr>
          <a:xfrm>
            <a:off x="-1652178" y="328609"/>
            <a:ext cx="8354062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AF13FFC-9591-4C40-29C2-A5077707F84F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6478055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DSMAC – General WORKING PIPELINE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CEF852-23C5-FD31-CBF6-E7E65407B2F9}"/>
              </a:ext>
            </a:extLst>
          </p:cNvPr>
          <p:cNvSpPr/>
          <p:nvPr/>
        </p:nvSpPr>
        <p:spPr>
          <a:xfrm rot="5400000">
            <a:off x="4272130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EB200-D0EF-6347-2B49-E5DC6B36B743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23AE59-26BF-7B4E-F9D7-2256410131F9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1D5E53-2197-E6C4-B772-BE62B794859E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CE3A89-2882-4399-62B8-6BCF9F6A33CB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05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1EDF18-F1AA-3D64-0719-86BFD27543DE}"/>
              </a:ext>
            </a:extLst>
          </p:cNvPr>
          <p:cNvSpPr txBox="1"/>
          <p:nvPr/>
        </p:nvSpPr>
        <p:spPr>
          <a:xfrm>
            <a:off x="599838" y="1260120"/>
            <a:ext cx="996042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Original DSMAC (1980)</a:t>
            </a:r>
          </a:p>
          <a:p>
            <a:pPr marL="514350" indent="-514350">
              <a:buAutoNum type="arabicPeriod"/>
            </a:pPr>
            <a:endParaRPr lang="en-IN" sz="2000" b="1" dirty="0"/>
          </a:p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Reference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Carr &amp; Sobek, </a:t>
            </a:r>
            <a:r>
              <a:rPr lang="en-US" sz="2000" i="1" dirty="0"/>
              <a:t>Digital Scene Matching Area Correlator (DSMAC)</a:t>
            </a:r>
            <a:r>
              <a:rPr lang="en-US" sz="2000" dirty="0"/>
              <a:t>, Naval Avionics Center,1980</a:t>
            </a:r>
            <a:endParaRPr lang="en-IN" sz="2000" dirty="0"/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Approach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Area-based image correlation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Correlation Surface Peak Detection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Pixel-wise scene comparison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DSMAC-assisted terminal guidance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Reference image matching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Limitations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Sensitive to illumination and viewpoint changes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High computational complexity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adaptability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EF39A-2378-2A01-C140-09CBBDA24776}"/>
              </a:ext>
            </a:extLst>
          </p:cNvPr>
          <p:cNvSpPr/>
          <p:nvPr/>
        </p:nvSpPr>
        <p:spPr>
          <a:xfrm>
            <a:off x="-1652178" y="328609"/>
            <a:ext cx="564431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2150D2-B188-7A8B-032E-71B158632478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3824064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LITERATURE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0AE454-1665-ADE0-6D71-ACA13DE0DB38}"/>
              </a:ext>
            </a:extLst>
          </p:cNvPr>
          <p:cNvSpPr/>
          <p:nvPr/>
        </p:nvSpPr>
        <p:spPr>
          <a:xfrm rot="5400000">
            <a:off x="1540087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B506EF-757C-4F47-4429-C014ED25FAA5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A9AA70-EEAE-6DD8-F014-F632566D10EF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E588CA-28BF-C82A-F0DF-E64F4AEC8E17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9BD714-5801-810D-32E9-48BB3877360F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224E42-798A-D0C9-E10D-513CAB4DE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355" y="3035400"/>
            <a:ext cx="5665712" cy="29337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7714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280D-4C13-500C-1CB0-345B42420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4244D7-8263-A74D-342D-1463158F0EE6}"/>
              </a:ext>
            </a:extLst>
          </p:cNvPr>
          <p:cNvSpPr txBox="1"/>
          <p:nvPr/>
        </p:nvSpPr>
        <p:spPr>
          <a:xfrm>
            <a:off x="599838" y="1170912"/>
            <a:ext cx="1048447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2.     Advanced Scene Matching (1994)</a:t>
            </a:r>
          </a:p>
          <a:p>
            <a:endParaRPr lang="en-IN" sz="1600" b="1" dirty="0"/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Reference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Irani &amp; Christ, </a:t>
            </a:r>
            <a:r>
              <a:rPr lang="en-IN" sz="1600" i="1" dirty="0"/>
              <a:t>Image Processing for Tomahawk Scene Matching</a:t>
            </a:r>
            <a:r>
              <a:rPr lang="en-IN" sz="1600" dirty="0"/>
              <a:t>, Johns Hopkins APL Technical Digest, 1994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Approach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Enhanced image processing techniques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Improved scene registration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Robust geometric alignment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Optimized image matching for terminal guidance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Contributions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Improved robustness over classical DSMAC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Better handling of scene distortions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Increased localization accuracy </a:t>
            </a:r>
          </a:p>
          <a:p>
            <a:pPr lvl="0"/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Limitations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Still relied on handcrafted image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No learned feature representation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Sensitive to environmental variations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12148D-4CF8-10EC-C9E3-516E07720500}"/>
              </a:ext>
            </a:extLst>
          </p:cNvPr>
          <p:cNvSpPr/>
          <p:nvPr/>
        </p:nvSpPr>
        <p:spPr>
          <a:xfrm>
            <a:off x="-1652178" y="328609"/>
            <a:ext cx="564431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EA4E3A-AE17-CD3A-15E5-DF51CB9DC286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3824064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LITERATURE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66002C-5AEF-911B-D59F-34B55F473D16}"/>
              </a:ext>
            </a:extLst>
          </p:cNvPr>
          <p:cNvSpPr/>
          <p:nvPr/>
        </p:nvSpPr>
        <p:spPr>
          <a:xfrm rot="5400000">
            <a:off x="1540087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FD153E-36FF-73EC-21FB-38D1AB456915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52378-C50F-4CCA-7C4C-7BC56669E429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C6549-0327-73C7-1AE1-523D7E868FA8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864EBC-4F69-B727-161F-90151D0A3A67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324E7-177A-BA7C-633F-AEB255AC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458" y="2346042"/>
            <a:ext cx="5621765" cy="37388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1714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0A7A1-4257-8676-4D83-252C9F41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62B617-B2E4-BA70-C5B1-56B593BBDF54}"/>
              </a:ext>
            </a:extLst>
          </p:cNvPr>
          <p:cNvSpPr txBox="1"/>
          <p:nvPr/>
        </p:nvSpPr>
        <p:spPr>
          <a:xfrm>
            <a:off x="599838" y="1170912"/>
            <a:ext cx="104844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3.     AI-Based DSMAC (2026)</a:t>
            </a:r>
          </a:p>
          <a:p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Reference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Kashyap et al., </a:t>
            </a:r>
            <a:r>
              <a:rPr lang="en-IN" sz="1600" i="1" dirty="0"/>
              <a:t>ML Based Solution for DSMAC System in Aerial Navigation</a:t>
            </a:r>
            <a:r>
              <a:rPr lang="en-IN" sz="1600" dirty="0"/>
              <a:t>, 2026.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 </a:t>
            </a:r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Approach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ORB feature extraction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ResNet-50 feature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FAISS similarity search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CNN-based aerial image matching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Contributions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Deep feature representation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Faster large-scale image retrieval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Improved robustness for aerial navigation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Automated dataset generation </a:t>
            </a:r>
          </a:p>
          <a:p>
            <a:pPr lvl="0"/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Limitations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High computational requirements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Limited multimodal (RGB–IR) capability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3A8E6-1A2B-F21F-0624-536534D0A2F0}"/>
              </a:ext>
            </a:extLst>
          </p:cNvPr>
          <p:cNvSpPr/>
          <p:nvPr/>
        </p:nvSpPr>
        <p:spPr>
          <a:xfrm>
            <a:off x="-1652178" y="328609"/>
            <a:ext cx="564431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CC38B8-11CE-2D18-9CD5-77AED83A9F37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3824064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LITERATURE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6BFDD5-0A7D-8DDC-BFE1-1F0A1A3B1FF5}"/>
              </a:ext>
            </a:extLst>
          </p:cNvPr>
          <p:cNvSpPr/>
          <p:nvPr/>
        </p:nvSpPr>
        <p:spPr>
          <a:xfrm rot="5400000">
            <a:off x="1540087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A9FDCA-9CBD-1B46-F6DF-BFF9DA935203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C36616-43AE-26BC-FB6D-03CBC2F00A88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BB40DB-7F9A-6A6C-9AA0-A5995E28AE8C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723D02-6F20-D8D3-94E0-C21D2975D1AB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9E23B8-CE75-726C-267F-18720C7B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3017091"/>
            <a:ext cx="6270884" cy="16125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8833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FF3D908-2B89-DCD9-7C3E-618320119087}"/>
              </a:ext>
            </a:extLst>
          </p:cNvPr>
          <p:cNvSpPr/>
          <p:nvPr/>
        </p:nvSpPr>
        <p:spPr>
          <a:xfrm>
            <a:off x="-1652178" y="328609"/>
            <a:ext cx="8688598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A8D0C20-B8E6-087C-345F-4842F5259C5D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6678777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Evolution of DSMAC Image Matching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B83BAE-F5DD-D0D0-3958-911C2E1CA15E}"/>
              </a:ext>
            </a:extLst>
          </p:cNvPr>
          <p:cNvSpPr/>
          <p:nvPr/>
        </p:nvSpPr>
        <p:spPr>
          <a:xfrm rot="5400000">
            <a:off x="4550911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D401FD-535E-8FF7-2227-F15F748EF71B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081190-A5E4-F39B-2D0D-147995F8F427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878B50-8377-8872-9496-92EE57E11D8D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E89EEB-7BA4-EA9E-970B-97C098CA9846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12F2BB-0907-7B89-1907-27E765EB8CE3}"/>
              </a:ext>
            </a:extLst>
          </p:cNvPr>
          <p:cNvSpPr/>
          <p:nvPr/>
        </p:nvSpPr>
        <p:spPr>
          <a:xfrm>
            <a:off x="3983758" y="1922855"/>
            <a:ext cx="6864684" cy="573616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Pixel Correlation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EE0088-DD57-EB46-6024-11000FEB89A7}"/>
              </a:ext>
            </a:extLst>
          </p:cNvPr>
          <p:cNvSpPr/>
          <p:nvPr/>
        </p:nvSpPr>
        <p:spPr>
          <a:xfrm>
            <a:off x="1393587" y="1922855"/>
            <a:ext cx="1899147" cy="573616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1980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C77FE8-BF40-0CC9-3DAA-F83462483D32}"/>
              </a:ext>
            </a:extLst>
          </p:cNvPr>
          <p:cNvSpPr/>
          <p:nvPr/>
        </p:nvSpPr>
        <p:spPr>
          <a:xfrm>
            <a:off x="3983757" y="2945647"/>
            <a:ext cx="6864685" cy="573616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Advanced Image Processing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F913EC-09B7-67F3-2EA6-A55C81873304}"/>
              </a:ext>
            </a:extLst>
          </p:cNvPr>
          <p:cNvSpPr/>
          <p:nvPr/>
        </p:nvSpPr>
        <p:spPr>
          <a:xfrm>
            <a:off x="1393587" y="2945647"/>
            <a:ext cx="1899147" cy="573616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1994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7DD9FE0-0E72-E7DB-86D6-0E85F0F08316}"/>
              </a:ext>
            </a:extLst>
          </p:cNvPr>
          <p:cNvSpPr/>
          <p:nvPr/>
        </p:nvSpPr>
        <p:spPr>
          <a:xfrm>
            <a:off x="3983758" y="3957281"/>
            <a:ext cx="6864686" cy="573616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Deep Learning-Based Scene Matching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2BC594-90FC-0931-3FD3-45E626096755}"/>
              </a:ext>
            </a:extLst>
          </p:cNvPr>
          <p:cNvSpPr/>
          <p:nvPr/>
        </p:nvSpPr>
        <p:spPr>
          <a:xfrm>
            <a:off x="1393587" y="3957281"/>
            <a:ext cx="1899147" cy="573616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2026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E77BFC-3012-EFEC-BFA0-02430CB9323C}"/>
              </a:ext>
            </a:extLst>
          </p:cNvPr>
          <p:cNvSpPr/>
          <p:nvPr/>
        </p:nvSpPr>
        <p:spPr>
          <a:xfrm>
            <a:off x="3983757" y="4968915"/>
            <a:ext cx="6864687" cy="573616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Cross-Modal (RGB–IR) Transformer-Based Scene Matching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4C112B-D787-D69C-B9C0-1A284223AF65}"/>
              </a:ext>
            </a:extLst>
          </p:cNvPr>
          <p:cNvSpPr/>
          <p:nvPr/>
        </p:nvSpPr>
        <p:spPr>
          <a:xfrm>
            <a:off x="1393587" y="4968915"/>
            <a:ext cx="1899147" cy="573616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Proposed Work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3E85C80-84CE-17E5-1469-5A0C93B0531C}"/>
              </a:ext>
            </a:extLst>
          </p:cNvPr>
          <p:cNvCxnSpPr>
            <a:cxnSpLocks/>
            <a:stCxn id="38" idx="3"/>
            <a:endCxn id="36" idx="1"/>
          </p:cNvCxnSpPr>
          <p:nvPr/>
        </p:nvCxnSpPr>
        <p:spPr>
          <a:xfrm>
            <a:off x="3292734" y="2209663"/>
            <a:ext cx="691024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3B57824-54C0-A631-CDFB-8D0C07463769}"/>
              </a:ext>
            </a:extLst>
          </p:cNvPr>
          <p:cNvCxnSpPr>
            <a:cxnSpLocks/>
          </p:cNvCxnSpPr>
          <p:nvPr/>
        </p:nvCxnSpPr>
        <p:spPr>
          <a:xfrm>
            <a:off x="3292733" y="3231858"/>
            <a:ext cx="691024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9AF9CC1-DA2D-0400-3C0B-7EBDA1ABF0BE}"/>
              </a:ext>
            </a:extLst>
          </p:cNvPr>
          <p:cNvCxnSpPr>
            <a:cxnSpLocks/>
          </p:cNvCxnSpPr>
          <p:nvPr/>
        </p:nvCxnSpPr>
        <p:spPr>
          <a:xfrm>
            <a:off x="3292733" y="4254053"/>
            <a:ext cx="691024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EBB41F-064F-7F26-95F3-394267089009}"/>
              </a:ext>
            </a:extLst>
          </p:cNvPr>
          <p:cNvCxnSpPr>
            <a:cxnSpLocks/>
          </p:cNvCxnSpPr>
          <p:nvPr/>
        </p:nvCxnSpPr>
        <p:spPr>
          <a:xfrm>
            <a:off x="3292733" y="5246512"/>
            <a:ext cx="691024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BBCD691-9B7D-F6E8-E174-5C51E2B0BE65}"/>
              </a:ext>
            </a:extLst>
          </p:cNvPr>
          <p:cNvCxnSpPr>
            <a:cxnSpLocks/>
          </p:cNvCxnSpPr>
          <p:nvPr/>
        </p:nvCxnSpPr>
        <p:spPr>
          <a:xfrm>
            <a:off x="2363113" y="2496471"/>
            <a:ext cx="0" cy="438611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962ACE-6382-9888-7297-4F818525ABEE}"/>
              </a:ext>
            </a:extLst>
          </p:cNvPr>
          <p:cNvCxnSpPr>
            <a:cxnSpLocks/>
          </p:cNvCxnSpPr>
          <p:nvPr/>
        </p:nvCxnSpPr>
        <p:spPr>
          <a:xfrm>
            <a:off x="2363113" y="3519263"/>
            <a:ext cx="0" cy="438611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5643EC1-BE9E-ECA3-D879-4DDEFAE47F12}"/>
              </a:ext>
            </a:extLst>
          </p:cNvPr>
          <p:cNvCxnSpPr>
            <a:cxnSpLocks/>
          </p:cNvCxnSpPr>
          <p:nvPr/>
        </p:nvCxnSpPr>
        <p:spPr>
          <a:xfrm>
            <a:off x="2363113" y="4530304"/>
            <a:ext cx="0" cy="438611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73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B098-C5B4-352B-86A1-BFC0C40F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1F3207-1C92-4C8A-DEEF-FEE5ED4CBDCC}"/>
              </a:ext>
            </a:extLst>
          </p:cNvPr>
          <p:cNvSpPr/>
          <p:nvPr/>
        </p:nvSpPr>
        <p:spPr>
          <a:xfrm>
            <a:off x="-1652178" y="328609"/>
            <a:ext cx="11420586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E1A6086-384F-741F-AACC-C6594729891C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8834701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Current State-of-the-Art Feature Matching Methods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958945-A092-DA81-98D9-3CFC1177E31F}"/>
              </a:ext>
            </a:extLst>
          </p:cNvPr>
          <p:cNvSpPr/>
          <p:nvPr/>
        </p:nvSpPr>
        <p:spPr>
          <a:xfrm rot="5400000">
            <a:off x="7317322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27E2CE-3C42-D533-02EE-C8E82FFAF502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AF95E-4114-E625-DAEA-891B05B8AD86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A783A6-27E8-B71B-63C6-F8405C3E54F4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7A6B82-14D5-CDB5-F6F7-683C3F61A332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8C6609-5535-97BE-309B-050EA09CC7EF}"/>
              </a:ext>
            </a:extLst>
          </p:cNvPr>
          <p:cNvSpPr/>
          <p:nvPr/>
        </p:nvSpPr>
        <p:spPr>
          <a:xfrm>
            <a:off x="551384" y="1556792"/>
            <a:ext cx="2088232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Method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147B37-E50A-7452-3598-628437F90FD0}"/>
              </a:ext>
            </a:extLst>
          </p:cNvPr>
          <p:cNvSpPr/>
          <p:nvPr/>
        </p:nvSpPr>
        <p:spPr>
          <a:xfrm>
            <a:off x="2783632" y="1559290"/>
            <a:ext cx="2736304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Approach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A02EEC-C752-D3FF-DB1A-08C0541597D9}"/>
              </a:ext>
            </a:extLst>
          </p:cNvPr>
          <p:cNvSpPr/>
          <p:nvPr/>
        </p:nvSpPr>
        <p:spPr>
          <a:xfrm>
            <a:off x="5663952" y="1556792"/>
            <a:ext cx="2736304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Strength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7D7F45-CFCC-968B-E7A7-1C268DD3EDB5}"/>
              </a:ext>
            </a:extLst>
          </p:cNvPr>
          <p:cNvSpPr/>
          <p:nvPr/>
        </p:nvSpPr>
        <p:spPr>
          <a:xfrm>
            <a:off x="8544272" y="1556792"/>
            <a:ext cx="2736304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Limitation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975A47-E769-A0B3-FBBC-06771432FC3D}"/>
              </a:ext>
            </a:extLst>
          </p:cNvPr>
          <p:cNvSpPr/>
          <p:nvPr/>
        </p:nvSpPr>
        <p:spPr>
          <a:xfrm>
            <a:off x="551384" y="2242530"/>
            <a:ext cx="2088232" cy="1006041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accent6">
                    <a:lumMod val="50000"/>
                  </a:schemeClr>
                </a:solidFill>
              </a:rPr>
              <a:t>Superpoint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 + </a:t>
            </a:r>
          </a:p>
          <a:p>
            <a:pPr algn="ctr"/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Superglue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F1CAD3-A39A-6138-A240-023B109A9AD8}"/>
              </a:ext>
            </a:extLst>
          </p:cNvPr>
          <p:cNvSpPr/>
          <p:nvPr/>
        </p:nvSpPr>
        <p:spPr>
          <a:xfrm>
            <a:off x="2783632" y="2245028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Sparse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</a:rPr>
              <a:t>keypoints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 + GNN matching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74B75E-754D-999C-3538-84AE7932F839}"/>
              </a:ext>
            </a:extLst>
          </p:cNvPr>
          <p:cNvSpPr/>
          <p:nvPr/>
        </p:nvSpPr>
        <p:spPr>
          <a:xfrm>
            <a:off x="5663952" y="2242530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Accurate and robust matching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8DD7AC-B16F-16A3-EB78-1834D476D738}"/>
              </a:ext>
            </a:extLst>
          </p:cNvPr>
          <p:cNvSpPr/>
          <p:nvPr/>
        </p:nvSpPr>
        <p:spPr>
          <a:xfrm>
            <a:off x="8544272" y="2242530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High computational cost; RGB-trained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F14256-1DD7-4A81-0C21-D10B540CD8E2}"/>
              </a:ext>
            </a:extLst>
          </p:cNvPr>
          <p:cNvSpPr/>
          <p:nvPr/>
        </p:nvSpPr>
        <p:spPr>
          <a:xfrm>
            <a:off x="564572" y="3466666"/>
            <a:ext cx="2088232" cy="1006041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accent6">
                    <a:lumMod val="50000"/>
                  </a:schemeClr>
                </a:solidFill>
              </a:rPr>
              <a:t>LoFTR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E9022D-4C52-9EB9-D851-98BFD8407CBA}"/>
              </a:ext>
            </a:extLst>
          </p:cNvPr>
          <p:cNvSpPr/>
          <p:nvPr/>
        </p:nvSpPr>
        <p:spPr>
          <a:xfrm>
            <a:off x="2796820" y="3469164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Detector-free transformer-based dense matching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A145BD1-B46C-6A98-CFC5-C229BFABD627}"/>
              </a:ext>
            </a:extLst>
          </p:cNvPr>
          <p:cNvSpPr/>
          <p:nvPr/>
        </p:nvSpPr>
        <p:spPr>
          <a:xfrm>
            <a:off x="5677140" y="3466666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Excellent in low-texture regions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5427CE-33DE-8723-BCD3-D874F0A775DF}"/>
              </a:ext>
            </a:extLst>
          </p:cNvPr>
          <p:cNvSpPr/>
          <p:nvPr/>
        </p:nvSpPr>
        <p:spPr>
          <a:xfrm>
            <a:off x="8557460" y="3466666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Computationally intensive; RGB-focused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7FFAF7-0DEF-E207-F1EB-6C6DFA770DE7}"/>
              </a:ext>
            </a:extLst>
          </p:cNvPr>
          <p:cNvSpPr/>
          <p:nvPr/>
        </p:nvSpPr>
        <p:spPr>
          <a:xfrm>
            <a:off x="564572" y="4690375"/>
            <a:ext cx="2088232" cy="1006041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Efficient </a:t>
            </a:r>
            <a:r>
              <a:rPr lang="en-IN" sz="2000" dirty="0" err="1">
                <a:solidFill>
                  <a:schemeClr val="accent6">
                    <a:lumMod val="50000"/>
                  </a:schemeClr>
                </a:solidFill>
              </a:rPr>
              <a:t>LoFTR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0E3348-0A0A-65E7-5F1F-DEA063640442}"/>
              </a:ext>
            </a:extLst>
          </p:cNvPr>
          <p:cNvSpPr/>
          <p:nvPr/>
        </p:nvSpPr>
        <p:spPr>
          <a:xfrm>
            <a:off x="2796820" y="4692873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Lightweight transformer-based dense matching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3C9C87-0E95-06A1-3DAD-630532BB0B61}"/>
              </a:ext>
            </a:extLst>
          </p:cNvPr>
          <p:cNvSpPr/>
          <p:nvPr/>
        </p:nvSpPr>
        <p:spPr>
          <a:xfrm>
            <a:off x="5677140" y="4690375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Faster inference with comparable accuracy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01CA53-D204-AB83-F87E-385573F91ECB}"/>
              </a:ext>
            </a:extLst>
          </p:cNvPr>
          <p:cNvSpPr/>
          <p:nvPr/>
        </p:nvSpPr>
        <p:spPr>
          <a:xfrm>
            <a:off x="8557460" y="4690375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Limited validation on RGB–IR imagery</a:t>
            </a:r>
          </a:p>
        </p:txBody>
      </p:sp>
    </p:spTree>
    <p:extLst>
      <p:ext uri="{BB962C8B-B14F-4D97-AF65-F5344CB8AC3E}">
        <p14:creationId xmlns:p14="http://schemas.microsoft.com/office/powerpoint/2010/main" val="246128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33C4-6376-4386-E4CC-5AA6EFF1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A256CA-4AA6-5A1F-3044-F92CED9A556A}"/>
              </a:ext>
            </a:extLst>
          </p:cNvPr>
          <p:cNvSpPr/>
          <p:nvPr/>
        </p:nvSpPr>
        <p:spPr>
          <a:xfrm>
            <a:off x="-1652178" y="328609"/>
            <a:ext cx="12716730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FE4FCD8-9DD7-1912-3BAF-D559395ADF84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10202623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Current State-of-the-Art Feature Matching Methods (contd.)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F86E0-D8AC-7CD6-07FD-3A2E30FAE0D8}"/>
              </a:ext>
            </a:extLst>
          </p:cNvPr>
          <p:cNvSpPr/>
          <p:nvPr/>
        </p:nvSpPr>
        <p:spPr>
          <a:xfrm rot="5400000">
            <a:off x="8613466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66386A-F432-E1F7-2380-22CD6E137690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F73DEE-D567-F592-6CD4-435065520EEC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16A303-8DE1-3DE2-25A7-0F4B7177B076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C4F063-F3B1-A889-9D96-0E0EABCA8938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2ACDE6-B983-A18E-2B09-2F04A8CBDAB6}"/>
              </a:ext>
            </a:extLst>
          </p:cNvPr>
          <p:cNvSpPr/>
          <p:nvPr/>
        </p:nvSpPr>
        <p:spPr>
          <a:xfrm>
            <a:off x="551384" y="1196752"/>
            <a:ext cx="2088232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Method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40C645-C8C8-1320-8C4C-AC59D95EB446}"/>
              </a:ext>
            </a:extLst>
          </p:cNvPr>
          <p:cNvSpPr/>
          <p:nvPr/>
        </p:nvSpPr>
        <p:spPr>
          <a:xfrm>
            <a:off x="2783632" y="1199250"/>
            <a:ext cx="2736304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Approach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96F853-E08E-0308-3E88-09C3806AEEA0}"/>
              </a:ext>
            </a:extLst>
          </p:cNvPr>
          <p:cNvSpPr/>
          <p:nvPr/>
        </p:nvSpPr>
        <p:spPr>
          <a:xfrm>
            <a:off x="5663952" y="1196752"/>
            <a:ext cx="2736304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Strength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DC74D9-1774-342C-AC82-9A1A2764FA17}"/>
              </a:ext>
            </a:extLst>
          </p:cNvPr>
          <p:cNvSpPr/>
          <p:nvPr/>
        </p:nvSpPr>
        <p:spPr>
          <a:xfrm>
            <a:off x="8544272" y="1196752"/>
            <a:ext cx="2736304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Limitation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AD42EB-9F5B-DE6E-2219-A4898004ECC7}"/>
              </a:ext>
            </a:extLst>
          </p:cNvPr>
          <p:cNvSpPr/>
          <p:nvPr/>
        </p:nvSpPr>
        <p:spPr>
          <a:xfrm>
            <a:off x="551384" y="1700808"/>
            <a:ext cx="2088232" cy="1006041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accent6">
                    <a:lumMod val="50000"/>
                  </a:schemeClr>
                </a:solidFill>
              </a:rPr>
              <a:t>MatchFormer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8838EA-B52B-BCC4-8E6B-A15C9DFE1F57}"/>
              </a:ext>
            </a:extLst>
          </p:cNvPr>
          <p:cNvSpPr/>
          <p:nvPr/>
        </p:nvSpPr>
        <p:spPr>
          <a:xfrm>
            <a:off x="2783632" y="1703306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Coarse-to-fine hierarchical transformer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803403-0DA2-FC14-0FC9-B4803B37E729}"/>
              </a:ext>
            </a:extLst>
          </p:cNvPr>
          <p:cNvSpPr/>
          <p:nvPr/>
        </p:nvSpPr>
        <p:spPr>
          <a:xfrm>
            <a:off x="5663952" y="1700808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Robust multi-scale feature matching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78E1DA-9146-54EA-7C2C-89F840048C9C}"/>
              </a:ext>
            </a:extLst>
          </p:cNvPr>
          <p:cNvSpPr/>
          <p:nvPr/>
        </p:nvSpPr>
        <p:spPr>
          <a:xfrm>
            <a:off x="8544272" y="1700808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High memory usage; not optimized for real-time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07AB4C-1948-44E0-4FAC-24B6FDA30BB1}"/>
              </a:ext>
            </a:extLst>
          </p:cNvPr>
          <p:cNvSpPr/>
          <p:nvPr/>
        </p:nvSpPr>
        <p:spPr>
          <a:xfrm>
            <a:off x="564572" y="2852936"/>
            <a:ext cx="2088232" cy="1006041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accent6">
                    <a:lumMod val="50000"/>
                  </a:schemeClr>
                </a:solidFill>
              </a:rPr>
              <a:t>ASpanFormer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676615-AD39-E16D-C38E-336938C4CEA2}"/>
              </a:ext>
            </a:extLst>
          </p:cNvPr>
          <p:cNvSpPr/>
          <p:nvPr/>
        </p:nvSpPr>
        <p:spPr>
          <a:xfrm>
            <a:off x="2796820" y="2855434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Adaptive span attention transformer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6CD783-2168-4376-357C-D8CB9CBD3B5B}"/>
              </a:ext>
            </a:extLst>
          </p:cNvPr>
          <p:cNvSpPr/>
          <p:nvPr/>
        </p:nvSpPr>
        <p:spPr>
          <a:xfrm>
            <a:off x="5677140" y="2852936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Handles large viewpoint changes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43A123-DDB1-ACF4-7AC8-41ADD5A56CDA}"/>
              </a:ext>
            </a:extLst>
          </p:cNvPr>
          <p:cNvSpPr/>
          <p:nvPr/>
        </p:nvSpPr>
        <p:spPr>
          <a:xfrm>
            <a:off x="8557460" y="2852936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Complex architecture; higher inference latency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2090D5-8327-40E5-361E-87A005900D0D}"/>
              </a:ext>
            </a:extLst>
          </p:cNvPr>
          <p:cNvSpPr/>
          <p:nvPr/>
        </p:nvSpPr>
        <p:spPr>
          <a:xfrm>
            <a:off x="564572" y="4005064"/>
            <a:ext cx="2088232" cy="1006041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accent6">
                    <a:lumMod val="50000"/>
                  </a:schemeClr>
                </a:solidFill>
              </a:rPr>
              <a:t>RoMa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018465-796F-1EBC-7207-CC2EAC7B8C13}"/>
              </a:ext>
            </a:extLst>
          </p:cNvPr>
          <p:cNvSpPr/>
          <p:nvPr/>
        </p:nvSpPr>
        <p:spPr>
          <a:xfrm>
            <a:off x="2796820" y="4007562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Regression-based dense correspondence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76FA11-DFCE-E14A-ADAC-6E81FE301CD5}"/>
              </a:ext>
            </a:extLst>
          </p:cNvPr>
          <p:cNvSpPr/>
          <p:nvPr/>
        </p:nvSpPr>
        <p:spPr>
          <a:xfrm>
            <a:off x="5677140" y="4005064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Accurate dense pixel-wise matching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079C5D-BA1C-1DA4-D551-1D9E8E03DBD3}"/>
              </a:ext>
            </a:extLst>
          </p:cNvPr>
          <p:cNvSpPr/>
          <p:nvPr/>
        </p:nvSpPr>
        <p:spPr>
          <a:xfrm>
            <a:off x="8557460" y="4005064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Computationally expensive; limited real-time deployment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709801-EAC2-EFD0-D272-54853F575348}"/>
              </a:ext>
            </a:extLst>
          </p:cNvPr>
          <p:cNvSpPr/>
          <p:nvPr/>
        </p:nvSpPr>
        <p:spPr>
          <a:xfrm>
            <a:off x="564572" y="5132556"/>
            <a:ext cx="2088232" cy="1006041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accent6">
                    <a:lumMod val="50000"/>
                  </a:schemeClr>
                </a:solidFill>
              </a:rPr>
              <a:t>LightGlue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D861F-CB4F-B1B0-2DCB-F58BB3300F64}"/>
              </a:ext>
            </a:extLst>
          </p:cNvPr>
          <p:cNvSpPr/>
          <p:nvPr/>
        </p:nvSpPr>
        <p:spPr>
          <a:xfrm>
            <a:off x="2796820" y="5135054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Adaptive transformer feature matcher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4AD9CE-DAAB-8C0B-3429-5178CBED1225}"/>
              </a:ext>
            </a:extLst>
          </p:cNvPr>
          <p:cNvSpPr/>
          <p:nvPr/>
        </p:nvSpPr>
        <p:spPr>
          <a:xfrm>
            <a:off x="5677140" y="5132556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Fast and efficient feature matching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C17FC9-D2A0-395B-56C2-B81BC7B17D8E}"/>
              </a:ext>
            </a:extLst>
          </p:cNvPr>
          <p:cNvSpPr/>
          <p:nvPr/>
        </p:nvSpPr>
        <p:spPr>
          <a:xfrm>
            <a:off x="8557460" y="5132556"/>
            <a:ext cx="2736304" cy="100604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Sparse matching; depends on extracted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</a:rPr>
              <a:t>keypoints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51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4B0DF-1CA1-D2F8-49CB-50072DB7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80D1F5-1F97-3672-D2C5-ECE004E299ED}"/>
              </a:ext>
            </a:extLst>
          </p:cNvPr>
          <p:cNvSpPr/>
          <p:nvPr/>
        </p:nvSpPr>
        <p:spPr>
          <a:xfrm>
            <a:off x="-1652178" y="328609"/>
            <a:ext cx="12140666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5563F35-AD01-DF16-9409-095F3DEC3843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10202623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Comparative Analysis of Existing Image Matching Methods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7697CB-35C3-BEAD-86F8-FEE4EB743B42}"/>
              </a:ext>
            </a:extLst>
          </p:cNvPr>
          <p:cNvSpPr/>
          <p:nvPr/>
        </p:nvSpPr>
        <p:spPr>
          <a:xfrm rot="5400000">
            <a:off x="8109410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F002DB-ACBA-30F3-2FE3-58BC7055FED9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6C599C-E577-6A43-8E5F-3DF9E9A6F28F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847F52-D82D-5CD3-112A-AD58CDD4D691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2427C-337C-7503-575B-12A93D4E7C4A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67BF18-11C2-A8CC-D841-995C64EAEEF7}"/>
              </a:ext>
            </a:extLst>
          </p:cNvPr>
          <p:cNvSpPr/>
          <p:nvPr/>
        </p:nvSpPr>
        <p:spPr>
          <a:xfrm>
            <a:off x="410004" y="1540099"/>
            <a:ext cx="1725556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Method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278B36-7C7A-EED0-EED8-A3625D866D14}"/>
              </a:ext>
            </a:extLst>
          </p:cNvPr>
          <p:cNvSpPr/>
          <p:nvPr/>
        </p:nvSpPr>
        <p:spPr>
          <a:xfrm>
            <a:off x="2250751" y="1542597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Matching Strategy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52110E-DAB9-B62D-17E9-4FA075727F9C}"/>
              </a:ext>
            </a:extLst>
          </p:cNvPr>
          <p:cNvSpPr/>
          <p:nvPr/>
        </p:nvSpPr>
        <p:spPr>
          <a:xfrm>
            <a:off x="4627015" y="1540099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Real-Time Performance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847F2D-62AF-B5D6-3A19-528B2371A297}"/>
              </a:ext>
            </a:extLst>
          </p:cNvPr>
          <p:cNvSpPr/>
          <p:nvPr/>
        </p:nvSpPr>
        <p:spPr>
          <a:xfrm>
            <a:off x="7003279" y="1540099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RGB–IR Support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81B331-EB06-A5AF-3B21-1CAFCC92D3A6}"/>
              </a:ext>
            </a:extLst>
          </p:cNvPr>
          <p:cNvSpPr/>
          <p:nvPr/>
        </p:nvSpPr>
        <p:spPr>
          <a:xfrm>
            <a:off x="410004" y="4434614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Classical DSMAC (1980)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BE1B83-E967-E460-E605-650F1E7630A4}"/>
              </a:ext>
            </a:extLst>
          </p:cNvPr>
          <p:cNvSpPr/>
          <p:nvPr/>
        </p:nvSpPr>
        <p:spPr>
          <a:xfrm>
            <a:off x="2250751" y="443711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Area Correlation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FE50B0-AF55-40A3-05D3-A5C7D5A74712}"/>
              </a:ext>
            </a:extLst>
          </p:cNvPr>
          <p:cNvSpPr/>
          <p:nvPr/>
        </p:nvSpPr>
        <p:spPr>
          <a:xfrm>
            <a:off x="4627015" y="443461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Low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AD2F50-08E2-B4B7-6887-2043D7B5A24D}"/>
              </a:ext>
            </a:extLst>
          </p:cNvPr>
          <p:cNvSpPr/>
          <p:nvPr/>
        </p:nvSpPr>
        <p:spPr>
          <a:xfrm>
            <a:off x="7003279" y="443461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0A4511-C95C-BBBC-6D15-52D98987AFBF}"/>
              </a:ext>
            </a:extLst>
          </p:cNvPr>
          <p:cNvSpPr/>
          <p:nvPr/>
        </p:nvSpPr>
        <p:spPr>
          <a:xfrm>
            <a:off x="9379543" y="1540099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Major Limitation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5F81B-13DD-2BDC-06FE-708A33892E4E}"/>
              </a:ext>
            </a:extLst>
          </p:cNvPr>
          <p:cNvSpPr/>
          <p:nvPr/>
        </p:nvSpPr>
        <p:spPr>
          <a:xfrm>
            <a:off x="9379543" y="443461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Sensitive to illumination and viewpoint changes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8CA206-14DB-4E1B-0138-05F571451123}"/>
              </a:ext>
            </a:extLst>
          </p:cNvPr>
          <p:cNvSpPr/>
          <p:nvPr/>
        </p:nvSpPr>
        <p:spPr>
          <a:xfrm>
            <a:off x="410004" y="5154694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Advanced DSMAC (1994)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49E09B-43B5-B439-C56C-7394CEA31037}"/>
              </a:ext>
            </a:extLst>
          </p:cNvPr>
          <p:cNvSpPr/>
          <p:nvPr/>
        </p:nvSpPr>
        <p:spPr>
          <a:xfrm>
            <a:off x="2250751" y="515719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Scene Registration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3A5AFD-8FE3-6172-EED5-3904E7F87E3B}"/>
              </a:ext>
            </a:extLst>
          </p:cNvPr>
          <p:cNvSpPr/>
          <p:nvPr/>
        </p:nvSpPr>
        <p:spPr>
          <a:xfrm>
            <a:off x="4627015" y="515469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Moderate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C9AF50-D83F-4A89-6396-893FBDBDA4D4}"/>
              </a:ext>
            </a:extLst>
          </p:cNvPr>
          <p:cNvSpPr/>
          <p:nvPr/>
        </p:nvSpPr>
        <p:spPr>
          <a:xfrm>
            <a:off x="7003279" y="515469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D0A2EB-47AF-1845-4473-0626A2D071BF}"/>
              </a:ext>
            </a:extLst>
          </p:cNvPr>
          <p:cNvSpPr/>
          <p:nvPr/>
        </p:nvSpPr>
        <p:spPr>
          <a:xfrm>
            <a:off x="9379543" y="515469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Handcrafted processing, limited adaptability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5A7CDC-5903-961D-164E-38CC9C01E89A}"/>
              </a:ext>
            </a:extLst>
          </p:cNvPr>
          <p:cNvSpPr/>
          <p:nvPr/>
        </p:nvSpPr>
        <p:spPr>
          <a:xfrm>
            <a:off x="410004" y="3714534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ORB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179537-9F09-B8F8-3D79-09F2F333BA77}"/>
              </a:ext>
            </a:extLst>
          </p:cNvPr>
          <p:cNvSpPr/>
          <p:nvPr/>
        </p:nvSpPr>
        <p:spPr>
          <a:xfrm>
            <a:off x="2250751" y="371703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Keypoint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Matching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B610FF-9574-0CCF-9FB3-5EC373F140E2}"/>
              </a:ext>
            </a:extLst>
          </p:cNvPr>
          <p:cNvSpPr/>
          <p:nvPr/>
        </p:nvSpPr>
        <p:spPr>
          <a:xfrm>
            <a:off x="4627015" y="371453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High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3789FCA-D76A-DB26-000C-AEB5452E12A9}"/>
              </a:ext>
            </a:extLst>
          </p:cNvPr>
          <p:cNvSpPr/>
          <p:nvPr/>
        </p:nvSpPr>
        <p:spPr>
          <a:xfrm>
            <a:off x="7003279" y="371453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20EB1E-B828-99F0-E947-2E5306D9FE82}"/>
              </a:ext>
            </a:extLst>
          </p:cNvPr>
          <p:cNvSpPr/>
          <p:nvPr/>
        </p:nvSpPr>
        <p:spPr>
          <a:xfrm>
            <a:off x="9379543" y="371453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Performance degrades in feature-poor regions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9F400C-6334-79CE-1812-385A86D3E8D5}"/>
              </a:ext>
            </a:extLst>
          </p:cNvPr>
          <p:cNvSpPr/>
          <p:nvPr/>
        </p:nvSpPr>
        <p:spPr>
          <a:xfrm>
            <a:off x="410004" y="2994454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SURF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4714D1D-8CFD-066E-9FA3-88C43CEB6B5B}"/>
              </a:ext>
            </a:extLst>
          </p:cNvPr>
          <p:cNvSpPr/>
          <p:nvPr/>
        </p:nvSpPr>
        <p:spPr>
          <a:xfrm>
            <a:off x="2250751" y="299695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Hessian-based Feature Matching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FE19AF5-8E2D-CE92-44D2-076493A04E3F}"/>
              </a:ext>
            </a:extLst>
          </p:cNvPr>
          <p:cNvSpPr/>
          <p:nvPr/>
        </p:nvSpPr>
        <p:spPr>
          <a:xfrm>
            <a:off x="4627015" y="299445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Moderate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DA7B21-83DA-CB6F-F00D-3236F57A1761}"/>
              </a:ext>
            </a:extLst>
          </p:cNvPr>
          <p:cNvSpPr/>
          <p:nvPr/>
        </p:nvSpPr>
        <p:spPr>
          <a:xfrm>
            <a:off x="7003279" y="299445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75891A2-80A5-FC1A-12D7-5A5B0E39ECF7}"/>
              </a:ext>
            </a:extLst>
          </p:cNvPr>
          <p:cNvSpPr/>
          <p:nvPr/>
        </p:nvSpPr>
        <p:spPr>
          <a:xfrm>
            <a:off x="9379543" y="299445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Handcrafted features, RGB-focused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D9336E7-9C4E-62BF-A92F-740D3D31ABF6}"/>
              </a:ext>
            </a:extLst>
          </p:cNvPr>
          <p:cNvSpPr/>
          <p:nvPr/>
        </p:nvSpPr>
        <p:spPr>
          <a:xfrm>
            <a:off x="410004" y="2276872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SIFT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9B1D954-FA08-91E7-48B4-A2046AE2AF18}"/>
              </a:ext>
            </a:extLst>
          </p:cNvPr>
          <p:cNvSpPr/>
          <p:nvPr/>
        </p:nvSpPr>
        <p:spPr>
          <a:xfrm>
            <a:off x="2250751" y="2279370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Scale-Invariant Feature Matching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5CE0E9F-7CFE-6301-E218-0CB3BAE3EA49}"/>
              </a:ext>
            </a:extLst>
          </p:cNvPr>
          <p:cNvSpPr/>
          <p:nvPr/>
        </p:nvSpPr>
        <p:spPr>
          <a:xfrm>
            <a:off x="4627015" y="227687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Low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D829DAF-A8FF-1589-4EEE-F6BAE72C59DE}"/>
              </a:ext>
            </a:extLst>
          </p:cNvPr>
          <p:cNvSpPr/>
          <p:nvPr/>
        </p:nvSpPr>
        <p:spPr>
          <a:xfrm>
            <a:off x="7003279" y="227687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10DF380-26F8-D43E-2C08-390BE92418BD}"/>
              </a:ext>
            </a:extLst>
          </p:cNvPr>
          <p:cNvSpPr/>
          <p:nvPr/>
        </p:nvSpPr>
        <p:spPr>
          <a:xfrm>
            <a:off x="9379543" y="227687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Computationally expensive; handcrafted descriptors</a:t>
            </a:r>
          </a:p>
        </p:txBody>
      </p:sp>
    </p:spTree>
    <p:extLst>
      <p:ext uri="{BB962C8B-B14F-4D97-AF65-F5344CB8AC3E}">
        <p14:creationId xmlns:p14="http://schemas.microsoft.com/office/powerpoint/2010/main" val="2152694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4261-965F-2906-0F86-61AA8A05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066EB-C592-9321-834C-6A553240F7B0}"/>
              </a:ext>
            </a:extLst>
          </p:cNvPr>
          <p:cNvSpPr/>
          <p:nvPr/>
        </p:nvSpPr>
        <p:spPr>
          <a:xfrm>
            <a:off x="-1220130" y="328609"/>
            <a:ext cx="12788738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B32080-2A6D-90DF-D2FD-E3CAD0B3998B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11138957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Comparative Analysis of Existing Image Matching Methods (contd.)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3916-D3DF-A7C3-EFE7-60DFC9A8AB3D}"/>
              </a:ext>
            </a:extLst>
          </p:cNvPr>
          <p:cNvSpPr/>
          <p:nvPr/>
        </p:nvSpPr>
        <p:spPr>
          <a:xfrm rot="5400000">
            <a:off x="9117522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7187B5-FDAB-7B5D-4D41-7F51F197CA74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3483A4-29CD-28AB-D189-D8D2DA00D66C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40C23D-EA83-35FD-E5F2-F7638E1ACE9E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22BEC5-72B2-AFBE-6931-552A8AD65DBB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F036DD-42BF-F9D8-4F9C-0D6FB093D906}"/>
              </a:ext>
            </a:extLst>
          </p:cNvPr>
          <p:cNvSpPr/>
          <p:nvPr/>
        </p:nvSpPr>
        <p:spPr>
          <a:xfrm>
            <a:off x="410004" y="1540099"/>
            <a:ext cx="1725556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Method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D27298-5D88-4964-4934-0F5860075910}"/>
              </a:ext>
            </a:extLst>
          </p:cNvPr>
          <p:cNvSpPr/>
          <p:nvPr/>
        </p:nvSpPr>
        <p:spPr>
          <a:xfrm>
            <a:off x="2250751" y="1542597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Matching Strategy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FFA78E-462D-C5C0-1628-9B22AACF74E3}"/>
              </a:ext>
            </a:extLst>
          </p:cNvPr>
          <p:cNvSpPr/>
          <p:nvPr/>
        </p:nvSpPr>
        <p:spPr>
          <a:xfrm>
            <a:off x="4627015" y="1540099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Real-Time Performance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A7ABA0-183F-B9FF-5647-1563F3DA5691}"/>
              </a:ext>
            </a:extLst>
          </p:cNvPr>
          <p:cNvSpPr/>
          <p:nvPr/>
        </p:nvSpPr>
        <p:spPr>
          <a:xfrm>
            <a:off x="7003279" y="1540099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RGB–IR Support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E7D866-D91F-A2A7-5769-130656AB372B}"/>
              </a:ext>
            </a:extLst>
          </p:cNvPr>
          <p:cNvSpPr/>
          <p:nvPr/>
        </p:nvSpPr>
        <p:spPr>
          <a:xfrm>
            <a:off x="410004" y="2991956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SuperGlue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4886BC-F6C5-1552-CC58-E15954B4C6CA}"/>
              </a:ext>
            </a:extLst>
          </p:cNvPr>
          <p:cNvSpPr/>
          <p:nvPr/>
        </p:nvSpPr>
        <p:spPr>
          <a:xfrm>
            <a:off x="2250751" y="299445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Graph Neural Network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910E05-873E-35EA-990F-CA716B9F21E6}"/>
              </a:ext>
            </a:extLst>
          </p:cNvPr>
          <p:cNvSpPr/>
          <p:nvPr/>
        </p:nvSpPr>
        <p:spPr>
          <a:xfrm>
            <a:off x="4627015" y="2991956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Moderate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D1FABD-2425-F42B-6A71-757B5E7FDD14}"/>
              </a:ext>
            </a:extLst>
          </p:cNvPr>
          <p:cNvSpPr/>
          <p:nvPr/>
        </p:nvSpPr>
        <p:spPr>
          <a:xfrm>
            <a:off x="7003279" y="2991956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13EFC-3BBD-296D-5879-CCE99152D78E}"/>
              </a:ext>
            </a:extLst>
          </p:cNvPr>
          <p:cNvSpPr/>
          <p:nvPr/>
        </p:nvSpPr>
        <p:spPr>
          <a:xfrm>
            <a:off x="9379543" y="1540099"/>
            <a:ext cx="2261073" cy="395208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Major Limitation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4B0B36-F3BA-718A-5646-E165E4EAB799}"/>
              </a:ext>
            </a:extLst>
          </p:cNvPr>
          <p:cNvSpPr/>
          <p:nvPr/>
        </p:nvSpPr>
        <p:spPr>
          <a:xfrm>
            <a:off x="9379543" y="2991956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High computational complexity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328FE-B0AA-9D37-808C-480892F03651}"/>
              </a:ext>
            </a:extLst>
          </p:cNvPr>
          <p:cNvSpPr/>
          <p:nvPr/>
        </p:nvSpPr>
        <p:spPr>
          <a:xfrm>
            <a:off x="410004" y="3714534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LoFTR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61C49F-3FDC-3D7D-D929-0FC0F3A296B7}"/>
              </a:ext>
            </a:extLst>
          </p:cNvPr>
          <p:cNvSpPr/>
          <p:nvPr/>
        </p:nvSpPr>
        <p:spPr>
          <a:xfrm>
            <a:off x="2250751" y="371703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Transformer-based Dense Matching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939A31-7AB6-1BF8-D02F-0C36007788A3}"/>
              </a:ext>
            </a:extLst>
          </p:cNvPr>
          <p:cNvSpPr/>
          <p:nvPr/>
        </p:nvSpPr>
        <p:spPr>
          <a:xfrm>
            <a:off x="4627015" y="371453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Moderate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970383-D6C1-3DA2-6104-F5A736E90E00}"/>
              </a:ext>
            </a:extLst>
          </p:cNvPr>
          <p:cNvSpPr/>
          <p:nvPr/>
        </p:nvSpPr>
        <p:spPr>
          <a:xfrm>
            <a:off x="7003279" y="371453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A26BDD-6586-8902-2BB6-0E6FAE8BAB47}"/>
              </a:ext>
            </a:extLst>
          </p:cNvPr>
          <p:cNvSpPr/>
          <p:nvPr/>
        </p:nvSpPr>
        <p:spPr>
          <a:xfrm>
            <a:off x="9379543" y="371453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Computationally intensive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C970A2F-3F17-8070-242F-EDF8368776EC}"/>
              </a:ext>
            </a:extLst>
          </p:cNvPr>
          <p:cNvSpPr/>
          <p:nvPr/>
        </p:nvSpPr>
        <p:spPr>
          <a:xfrm>
            <a:off x="410004" y="4434614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EfficientLoFTER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877716-3E28-6529-41E7-65579981828B}"/>
              </a:ext>
            </a:extLst>
          </p:cNvPr>
          <p:cNvSpPr/>
          <p:nvPr/>
        </p:nvSpPr>
        <p:spPr>
          <a:xfrm>
            <a:off x="2250751" y="443711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Efficient Transformer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AB0A42E-4F95-0A44-73E2-3E8CB28491D1}"/>
              </a:ext>
            </a:extLst>
          </p:cNvPr>
          <p:cNvSpPr/>
          <p:nvPr/>
        </p:nvSpPr>
        <p:spPr>
          <a:xfrm>
            <a:off x="4627015" y="443461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High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8792D1-B0D9-4E7D-94B6-BEC0FC071336}"/>
              </a:ext>
            </a:extLst>
          </p:cNvPr>
          <p:cNvSpPr/>
          <p:nvPr/>
        </p:nvSpPr>
        <p:spPr>
          <a:xfrm>
            <a:off x="7003279" y="443461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B811A01-1E30-AF00-5BEF-982F000E93F7}"/>
              </a:ext>
            </a:extLst>
          </p:cNvPr>
          <p:cNvSpPr/>
          <p:nvPr/>
        </p:nvSpPr>
        <p:spPr>
          <a:xfrm>
            <a:off x="9379543" y="443461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Limited evaluation on cross-modal imagery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B65F60E-ADB6-67E4-DE45-B108B575BCCC}"/>
              </a:ext>
            </a:extLst>
          </p:cNvPr>
          <p:cNvSpPr/>
          <p:nvPr/>
        </p:nvSpPr>
        <p:spPr>
          <a:xfrm>
            <a:off x="410004" y="5154694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LightGlue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2B861B-DE8C-6494-2623-5797E5B77AFE}"/>
              </a:ext>
            </a:extLst>
          </p:cNvPr>
          <p:cNvSpPr/>
          <p:nvPr/>
        </p:nvSpPr>
        <p:spPr>
          <a:xfrm>
            <a:off x="2250751" y="515719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Adaptive Transformer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963A5DB-7166-CC1B-CB21-944246A11217}"/>
              </a:ext>
            </a:extLst>
          </p:cNvPr>
          <p:cNvSpPr/>
          <p:nvPr/>
        </p:nvSpPr>
        <p:spPr>
          <a:xfrm>
            <a:off x="4627015" y="515469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High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7B6A346-1DE0-DCFE-2675-F1D7D4E0D8CA}"/>
              </a:ext>
            </a:extLst>
          </p:cNvPr>
          <p:cNvSpPr/>
          <p:nvPr/>
        </p:nvSpPr>
        <p:spPr>
          <a:xfrm>
            <a:off x="7003279" y="515469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E54B953-8DBA-DC41-1948-4071FEE09D58}"/>
              </a:ext>
            </a:extLst>
          </p:cNvPr>
          <p:cNvSpPr/>
          <p:nvPr/>
        </p:nvSpPr>
        <p:spPr>
          <a:xfrm>
            <a:off x="9379543" y="5154694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Sparse correspondence, RGB-focused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C24BCB-3B49-41F2-CD30-EB040E2AE678}"/>
              </a:ext>
            </a:extLst>
          </p:cNvPr>
          <p:cNvSpPr/>
          <p:nvPr/>
        </p:nvSpPr>
        <p:spPr>
          <a:xfrm>
            <a:off x="410004" y="2276872"/>
            <a:ext cx="1725556" cy="576064"/>
          </a:xfrm>
          <a:prstGeom prst="rect">
            <a:avLst/>
          </a:prstGeom>
          <a:solidFill>
            <a:schemeClr val="accent5">
              <a:lumMod val="60000"/>
              <a:lumOff val="40000"/>
              <a:alpha val="38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SuperPoint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4BAEFF-85F4-54F5-9949-292411DBFB6A}"/>
              </a:ext>
            </a:extLst>
          </p:cNvPr>
          <p:cNvSpPr/>
          <p:nvPr/>
        </p:nvSpPr>
        <p:spPr>
          <a:xfrm>
            <a:off x="2250751" y="2279370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Keypoint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Detection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1A37C4-3ECD-0175-9F6B-B2B593DD8A25}"/>
              </a:ext>
            </a:extLst>
          </p:cNvPr>
          <p:cNvSpPr/>
          <p:nvPr/>
        </p:nvSpPr>
        <p:spPr>
          <a:xfrm>
            <a:off x="4627015" y="227687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High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76F1E4-6ECC-E3F9-406A-F64326E8FE7C}"/>
              </a:ext>
            </a:extLst>
          </p:cNvPr>
          <p:cNvSpPr/>
          <p:nvPr/>
        </p:nvSpPr>
        <p:spPr>
          <a:xfrm>
            <a:off x="7003279" y="227687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C44DFF-02FF-30A1-97DD-FC81C9E9A0BA}"/>
              </a:ext>
            </a:extLst>
          </p:cNvPr>
          <p:cNvSpPr/>
          <p:nvPr/>
        </p:nvSpPr>
        <p:spPr>
          <a:xfrm>
            <a:off x="9379543" y="2276872"/>
            <a:ext cx="2261073" cy="576064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Trained primarily on RGB datasets</a:t>
            </a:r>
          </a:p>
        </p:txBody>
      </p:sp>
    </p:spTree>
    <p:extLst>
      <p:ext uri="{BB962C8B-B14F-4D97-AF65-F5344CB8AC3E}">
        <p14:creationId xmlns:p14="http://schemas.microsoft.com/office/powerpoint/2010/main" val="3799278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B9426C-D6B5-2FB2-76D5-090BD5D1A113}"/>
              </a:ext>
            </a:extLst>
          </p:cNvPr>
          <p:cNvSpPr txBox="1"/>
          <p:nvPr/>
        </p:nvSpPr>
        <p:spPr>
          <a:xfrm>
            <a:off x="530458" y="1303015"/>
            <a:ext cx="1141911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Classical DSMAC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Relies on pixel-level correlation, making it highly sensitive to illumination and viewpoint variations.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Performance degrades significantly under dynamic environmental conditions.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Computationally expensive for large search spaces.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Feature-Based Methods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Depend on handcrafted feature descriptors.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Reduced matching accuracy in texture-poor and repetitive environments.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Limited robustness against large appearance changes.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Deep Learning-Based Methods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Primarily trained and evaluated on RGB image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Most methods assume same-modality image pairs during feature matching.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Computational complexity limits deployment in high-frequency navigation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Limited evaluation under real-time embedded constraints. 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B27CA-DDC4-40D1-FB5B-B4D17370748A}"/>
              </a:ext>
            </a:extLst>
          </p:cNvPr>
          <p:cNvSpPr/>
          <p:nvPr/>
        </p:nvSpPr>
        <p:spPr>
          <a:xfrm>
            <a:off x="-1652178" y="328609"/>
            <a:ext cx="8468258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0779B2-7877-324D-C8DC-FF0270D361E5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5882373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Limitations of Existing Approaches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AAE75-9D4E-6504-11BB-5AB21D2AFF2D}"/>
              </a:ext>
            </a:extLst>
          </p:cNvPr>
          <p:cNvSpPr/>
          <p:nvPr/>
        </p:nvSpPr>
        <p:spPr>
          <a:xfrm rot="5400000">
            <a:off x="4430427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F9A5F6-A415-0BCB-9198-DE5617F7CBC0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0428D-560C-F532-6298-E217D7FCB3FF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1BB537-4D15-693D-05F4-D74510EFEA08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A2CEF4-7825-17B3-AB19-77CC0F2F9D6B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49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C1E74-A887-0A9F-B582-D5D18D7B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B396C6-E982-F06F-BE49-503AABCACEA4}"/>
              </a:ext>
            </a:extLst>
          </p:cNvPr>
          <p:cNvSpPr/>
          <p:nvPr/>
        </p:nvSpPr>
        <p:spPr>
          <a:xfrm>
            <a:off x="-1652178" y="328609"/>
            <a:ext cx="5083882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FED9A1-69B6-084F-8EB9-CDE6032AF786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2570005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Research Gap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F8554-1360-9A2F-DCC8-ABA47A4E2640}"/>
              </a:ext>
            </a:extLst>
          </p:cNvPr>
          <p:cNvSpPr/>
          <p:nvPr/>
        </p:nvSpPr>
        <p:spPr>
          <a:xfrm rot="5400000">
            <a:off x="974043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D702D2-6893-7E17-BE2D-E38A75EBDEED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2A0D5E-DE58-754E-2755-CD72879E329D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480B70-ABBD-B59D-95C4-C995B73BFD4A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066FFE-5C46-168E-F366-6A2597EFDC95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17B2B-99FC-F3D8-3286-E68BD99B90D7}"/>
              </a:ext>
            </a:extLst>
          </p:cNvPr>
          <p:cNvSpPr/>
          <p:nvPr/>
        </p:nvSpPr>
        <p:spPr>
          <a:xfrm>
            <a:off x="1777498" y="1493912"/>
            <a:ext cx="4175475" cy="194630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Lack of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modality-invariant feature representations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for RGB–IR scene matching.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A6FA9C-86D4-3788-914C-01247497699C}"/>
              </a:ext>
            </a:extLst>
          </p:cNvPr>
          <p:cNvSpPr/>
          <p:nvPr/>
        </p:nvSpPr>
        <p:spPr>
          <a:xfrm>
            <a:off x="6313013" y="1484784"/>
            <a:ext cx="4175475" cy="194630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Absence of robust cross-modal correspondence estimation in existing DSMAC systems.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1AFBC3-6974-E837-FA06-620123B83D5D}"/>
              </a:ext>
            </a:extLst>
          </p:cNvPr>
          <p:cNvSpPr/>
          <p:nvPr/>
        </p:nvSpPr>
        <p:spPr>
          <a:xfrm>
            <a:off x="1777498" y="3802236"/>
            <a:ext cx="4175475" cy="194630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Need for dense feature matching with low computational latency.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CA8D65-204C-F4F7-D1CE-893137F20E4D}"/>
              </a:ext>
            </a:extLst>
          </p:cNvPr>
          <p:cNvSpPr/>
          <p:nvPr/>
        </p:nvSpPr>
        <p:spPr>
          <a:xfrm>
            <a:off x="6313013" y="3802236"/>
            <a:ext cx="4175475" cy="1946301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Existing methods do not simultaneously satisfy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accuracy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robustness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, and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low-latency performance (50–100 Hz)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required for next-generation DSMAC.</a:t>
            </a:r>
          </a:p>
        </p:txBody>
      </p:sp>
    </p:spTree>
    <p:extLst>
      <p:ext uri="{BB962C8B-B14F-4D97-AF65-F5344CB8AC3E}">
        <p14:creationId xmlns:p14="http://schemas.microsoft.com/office/powerpoint/2010/main" val="1525604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F414-E3BA-4409-CF2E-FB0F6A7F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B60142-405F-6813-F4DE-F2B88B2A248E}"/>
              </a:ext>
            </a:extLst>
          </p:cNvPr>
          <p:cNvSpPr txBox="1"/>
          <p:nvPr/>
        </p:nvSpPr>
        <p:spPr>
          <a:xfrm>
            <a:off x="964815" y="1375608"/>
            <a:ext cx="96126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</a:p>
          <a:p>
            <a:endParaRPr lang="en-IN" b="1" dirty="0"/>
          </a:p>
          <a:p>
            <a:r>
              <a:rPr lang="en-IN" dirty="0"/>
              <a:t>To develop a </a:t>
            </a:r>
            <a:r>
              <a:rPr lang="en-IN" b="1" dirty="0"/>
              <a:t>multimodal DSMAC framework</a:t>
            </a:r>
            <a:r>
              <a:rPr lang="en-IN" dirty="0"/>
              <a:t> capable of robust scene matching between RGB and infrared imagery by learning a shared latent feature space and performing efficient transformer-based feature correspondence.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6BF37-6A3B-E8C2-DF61-AFAE418C5450}"/>
              </a:ext>
            </a:extLst>
          </p:cNvPr>
          <p:cNvSpPr txBox="1"/>
          <p:nvPr/>
        </p:nvSpPr>
        <p:spPr>
          <a:xfrm>
            <a:off x="964815" y="2929369"/>
            <a:ext cx="1094014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Proposed Framework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Step 1: Multimodal Image Acquisition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Simultaneous acquisition of RGB and Infrared (IR) images using synchronized onboard sensors.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Image preprocessing including geometric alignment and normalization.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Step 2: Dual Encoder Network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Independent feature encoders for RGB and IR images.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Learn modality-specific representations while preserving structural scene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Project both modalities into a </a:t>
            </a:r>
            <a:r>
              <a:rPr lang="en-IN" b="1" dirty="0"/>
              <a:t>shared latent feature space</a:t>
            </a:r>
            <a:r>
              <a:rPr lang="en-IN" dirty="0"/>
              <a:t>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EBBD8A-8CED-8812-49CD-F71B55BE66C7}"/>
              </a:ext>
            </a:extLst>
          </p:cNvPr>
          <p:cNvSpPr/>
          <p:nvPr/>
        </p:nvSpPr>
        <p:spPr>
          <a:xfrm>
            <a:off x="-1508162" y="328609"/>
            <a:ext cx="6236010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8B7167-371F-F460-334C-003BEFD3C845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4298197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Proposed 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AB23E1-E008-42BE-A60B-0300817D4973}"/>
              </a:ext>
            </a:extLst>
          </p:cNvPr>
          <p:cNvSpPr/>
          <p:nvPr/>
        </p:nvSpPr>
        <p:spPr>
          <a:xfrm rot="5400000">
            <a:off x="2276762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042259-4657-A58B-55AB-046EF66F38D2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42FCCD-E454-93B4-2F99-48B3669EA55A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D151BC-E3CB-4C78-2431-651B68608226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91F9F3-C5D0-035B-1281-16311C111E93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C07FB1-89E1-9A1D-1FBF-B00953F485E7}"/>
              </a:ext>
            </a:extLst>
          </p:cNvPr>
          <p:cNvSpPr/>
          <p:nvPr/>
        </p:nvSpPr>
        <p:spPr>
          <a:xfrm>
            <a:off x="964815" y="1381686"/>
            <a:ext cx="1026729" cy="391130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5C5D14-475D-3383-5032-DF00205D83D8}"/>
              </a:ext>
            </a:extLst>
          </p:cNvPr>
          <p:cNvSpPr/>
          <p:nvPr/>
        </p:nvSpPr>
        <p:spPr>
          <a:xfrm>
            <a:off x="964815" y="2929368"/>
            <a:ext cx="1962833" cy="42762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296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1C7ED-7CC6-E96C-7E06-8BDBCAFCC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841832-28EA-EECD-4420-BFCADE423EB4}"/>
              </a:ext>
            </a:extLst>
          </p:cNvPr>
          <p:cNvSpPr txBox="1"/>
          <p:nvPr/>
        </p:nvSpPr>
        <p:spPr>
          <a:xfrm>
            <a:off x="988505" y="1278044"/>
            <a:ext cx="109401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Step 3: Shared Latent Space Learning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Align RGB and IR feature embeddings using a shared feature representation.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 modality discrepancy while preserving semantic correspondence.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Generate modality-invariant descriptors suitable for feature matching.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Step 4: </a:t>
            </a:r>
            <a:r>
              <a:rPr lang="en-IN" b="1" dirty="0" err="1">
                <a:solidFill>
                  <a:schemeClr val="accent2">
                    <a:lumMod val="75000"/>
                  </a:schemeClr>
                </a:solidFill>
              </a:rPr>
              <a:t>EfficientLoFTR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-based Feature Matching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Apply </a:t>
            </a:r>
            <a:r>
              <a:rPr lang="en-IN" dirty="0" err="1"/>
              <a:t>EfficientLoFTR</a:t>
            </a:r>
            <a:r>
              <a:rPr lang="en-IN" dirty="0"/>
              <a:t> to perform dense feature correspondence directly in the shared latent space.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Utilize transformer-based attention mechanisms for robust matching.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Eliminate dependency on handcrafted </a:t>
            </a:r>
            <a:r>
              <a:rPr lang="en-IN" dirty="0" err="1"/>
              <a:t>keypoint</a:t>
            </a:r>
            <a:r>
              <a:rPr lang="en-IN" dirty="0"/>
              <a:t> detectors.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Step 5: DSMAC Localization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Estimate scene correspondences between the onboard image and reference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Compute localization error.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Update navigation state and trajectory correction.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Repeat continuously for real-time guidance.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BF2D4-2EB2-9302-2F31-D78B41B532A2}"/>
              </a:ext>
            </a:extLst>
          </p:cNvPr>
          <p:cNvSpPr/>
          <p:nvPr/>
        </p:nvSpPr>
        <p:spPr>
          <a:xfrm>
            <a:off x="-1508162" y="328609"/>
            <a:ext cx="7820188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773ECC-D1D2-FC2B-8BAA-79E4BD95C820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5522333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Proposed Methodology (CONTD.)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8947F0-976D-A0CE-6093-9FA048CBC408}"/>
              </a:ext>
            </a:extLst>
          </p:cNvPr>
          <p:cNvSpPr/>
          <p:nvPr/>
        </p:nvSpPr>
        <p:spPr>
          <a:xfrm rot="5400000">
            <a:off x="3860938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15CF19-0033-12E6-D779-2E8E14018333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85C918-CA0E-42BE-08FA-CB1C797444FD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11409D-C8A3-887A-A558-8971C6A97F57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3B428F-EAF4-C929-C1C5-85FB4505A3A0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956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663EEF4-3B7F-C964-8504-184DA0DB1338}"/>
              </a:ext>
            </a:extLst>
          </p:cNvPr>
          <p:cNvSpPr/>
          <p:nvPr/>
        </p:nvSpPr>
        <p:spPr>
          <a:xfrm>
            <a:off x="491172" y="1484784"/>
            <a:ext cx="2004427" cy="391130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5A571B-4189-043D-A8AD-C81CE8EF180C}"/>
              </a:ext>
            </a:extLst>
          </p:cNvPr>
          <p:cNvSpPr/>
          <p:nvPr/>
        </p:nvSpPr>
        <p:spPr>
          <a:xfrm>
            <a:off x="-1508162" y="328609"/>
            <a:ext cx="7820188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1DB614-2DD0-2DD1-A864-9B809A80CE6C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5522333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Proposed Methodology (CONTD.)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E207C-413A-187F-0608-9F510F158491}"/>
              </a:ext>
            </a:extLst>
          </p:cNvPr>
          <p:cNvSpPr/>
          <p:nvPr/>
        </p:nvSpPr>
        <p:spPr>
          <a:xfrm rot="5400000">
            <a:off x="3860938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74F8D0-7B9B-6C53-856D-B747D7CB330D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BB42F6-BA96-8774-6032-76BBBD32EFDB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F0A670-A7C6-E9D9-B94A-304693A92562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A39CB5-3A70-BC3C-96F1-04BD62F5417D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5F21C7-B371-9681-3179-F2DAC61F1202}"/>
              </a:ext>
            </a:extLst>
          </p:cNvPr>
          <p:cNvSpPr txBox="1"/>
          <p:nvPr/>
        </p:nvSpPr>
        <p:spPr>
          <a:xfrm>
            <a:off x="491172" y="1506582"/>
            <a:ext cx="26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Expected Advantages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CAC064-EC70-E448-0A96-5A8927653692}"/>
              </a:ext>
            </a:extLst>
          </p:cNvPr>
          <p:cNvSpPr/>
          <p:nvPr/>
        </p:nvSpPr>
        <p:spPr>
          <a:xfrm>
            <a:off x="491172" y="2247281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Robust RGB–IR feature correspondence.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469022-6239-A5BA-46A6-B6B80F283303}"/>
              </a:ext>
            </a:extLst>
          </p:cNvPr>
          <p:cNvSpPr/>
          <p:nvPr/>
        </p:nvSpPr>
        <p:spPr>
          <a:xfrm>
            <a:off x="491171" y="3453496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Reduced computational overhead using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EfficientLoFTR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6CEF22-F4D1-CBE6-E73A-96B6CC27C1F4}"/>
              </a:ext>
            </a:extLst>
          </p:cNvPr>
          <p:cNvSpPr/>
          <p:nvPr/>
        </p:nvSpPr>
        <p:spPr>
          <a:xfrm>
            <a:off x="504693" y="4659711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Improved localization accuracy under varying illumination conditions.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410928-C297-060E-27AF-84BE6AA091B7}"/>
              </a:ext>
            </a:extLst>
          </p:cNvPr>
          <p:cNvSpPr txBox="1"/>
          <p:nvPr/>
        </p:nvSpPr>
        <p:spPr>
          <a:xfrm>
            <a:off x="18322619" y="2712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Robust RGB–IR feature correspondence.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Modality-invariant feature representation.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Dense transformer-based scene matching.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Reduced computational overhead using </a:t>
            </a:r>
            <a:r>
              <a:rPr lang="en-IN" dirty="0" err="1"/>
              <a:t>EfficientLoFTR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Target real-time performance of </a:t>
            </a:r>
            <a:r>
              <a:rPr lang="en-IN" b="1" dirty="0"/>
              <a:t>50–100 Hz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Improved localization accuracy under varying illumination conditions.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Scalable architecture for integration with next-generation autonomous navigation systems.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E9B6A2-DC6D-BB9E-9F19-F86B7BEAAFFE}"/>
              </a:ext>
            </a:extLst>
          </p:cNvPr>
          <p:cNvSpPr/>
          <p:nvPr/>
        </p:nvSpPr>
        <p:spPr>
          <a:xfrm>
            <a:off x="5949039" y="2243529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Modality-invariant feature representation.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B9849A-6AC3-B32A-D9BE-D6223775BE45}"/>
              </a:ext>
            </a:extLst>
          </p:cNvPr>
          <p:cNvSpPr/>
          <p:nvPr/>
        </p:nvSpPr>
        <p:spPr>
          <a:xfrm>
            <a:off x="5949038" y="3449744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Target low-latency performance of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50–100 Hz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4FE914-EE43-A8CD-826C-D9E7A3972795}"/>
              </a:ext>
            </a:extLst>
          </p:cNvPr>
          <p:cNvSpPr/>
          <p:nvPr/>
        </p:nvSpPr>
        <p:spPr>
          <a:xfrm>
            <a:off x="5962560" y="4655959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Scalable architecture for integration with next-generation autonomous navigation systems.</a:t>
            </a:r>
          </a:p>
        </p:txBody>
      </p:sp>
    </p:spTree>
    <p:extLst>
      <p:ext uri="{BB962C8B-B14F-4D97-AF65-F5344CB8AC3E}">
        <p14:creationId xmlns:p14="http://schemas.microsoft.com/office/powerpoint/2010/main" val="44746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FB1B-7317-CF3D-6B5B-E49FE7BA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B088C7-2855-1781-2EE8-19201D089510}"/>
              </a:ext>
            </a:extLst>
          </p:cNvPr>
          <p:cNvSpPr/>
          <p:nvPr/>
        </p:nvSpPr>
        <p:spPr>
          <a:xfrm>
            <a:off x="-1508162" y="328609"/>
            <a:ext cx="7820188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487DBE-67EF-602C-C6F4-546D08531A33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5522333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Proposed Methodology (CONTD.)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7C9A4-AA41-7574-D557-7A86D1A5B0D9}"/>
              </a:ext>
            </a:extLst>
          </p:cNvPr>
          <p:cNvSpPr/>
          <p:nvPr/>
        </p:nvSpPr>
        <p:spPr>
          <a:xfrm rot="5400000">
            <a:off x="3860938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9B7689-CB8E-AF20-1EC0-4C4E9FDF628B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4040DF-B101-5BEA-8584-F11AC7EC1DFD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1BF276-8166-E52F-DE83-1EA0EA733616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F59DC8-37AF-7695-E502-85597475B98D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A32864-2A52-5F6C-3C2F-2832A1D5D95E}"/>
              </a:ext>
            </a:extLst>
          </p:cNvPr>
          <p:cNvSpPr txBox="1"/>
          <p:nvPr/>
        </p:nvSpPr>
        <p:spPr>
          <a:xfrm>
            <a:off x="18322619" y="2712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Robust RGB–IR feature correspondence.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Modality-invariant feature representation.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Dense transformer-based scene matching.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Reduced computational overhead using </a:t>
            </a:r>
            <a:r>
              <a:rPr lang="en-IN" dirty="0" err="1"/>
              <a:t>EfficientLoFTR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Target real-time performance of </a:t>
            </a:r>
            <a:r>
              <a:rPr lang="en-IN" b="1" dirty="0"/>
              <a:t>50–100 Hz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Improved localization accuracy under varying illumination conditions.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Scalable architecture for integration with next-generation autonomous navigation systems.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DAED0C-AACF-3113-1BB8-2A4193F1B446}"/>
              </a:ext>
            </a:extLst>
          </p:cNvPr>
          <p:cNvSpPr/>
          <p:nvPr/>
        </p:nvSpPr>
        <p:spPr>
          <a:xfrm>
            <a:off x="2953735" y="1840796"/>
            <a:ext cx="1636973" cy="652099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RGB Encoder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509F60-49B6-818B-B4FA-18FEA02352D4}"/>
              </a:ext>
            </a:extLst>
          </p:cNvPr>
          <p:cNvSpPr/>
          <p:nvPr/>
        </p:nvSpPr>
        <p:spPr>
          <a:xfrm>
            <a:off x="2953734" y="4289069"/>
            <a:ext cx="1636973" cy="652099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IR Encoder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6A559-26C0-5826-D3C7-5FBF50F71CC0}"/>
              </a:ext>
            </a:extLst>
          </p:cNvPr>
          <p:cNvSpPr/>
          <p:nvPr/>
        </p:nvSpPr>
        <p:spPr>
          <a:xfrm>
            <a:off x="738761" y="1840796"/>
            <a:ext cx="1636973" cy="652099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RGB Image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852B2B-C17B-21FA-9653-7D877DE09E14}"/>
              </a:ext>
            </a:extLst>
          </p:cNvPr>
          <p:cNvSpPr/>
          <p:nvPr/>
        </p:nvSpPr>
        <p:spPr>
          <a:xfrm>
            <a:off x="738760" y="4289069"/>
            <a:ext cx="1636973" cy="652099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IR Image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69CD3C-0E02-C774-585E-58A0349BE8D4}"/>
              </a:ext>
            </a:extLst>
          </p:cNvPr>
          <p:cNvSpPr/>
          <p:nvPr/>
        </p:nvSpPr>
        <p:spPr>
          <a:xfrm>
            <a:off x="2946859" y="3064932"/>
            <a:ext cx="1636973" cy="652099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Shared Latent Feature Space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FF94CC-095C-0781-B844-B5EB8F8965EE}"/>
              </a:ext>
            </a:extLst>
          </p:cNvPr>
          <p:cNvSpPr/>
          <p:nvPr/>
        </p:nvSpPr>
        <p:spPr>
          <a:xfrm>
            <a:off x="5150936" y="3060905"/>
            <a:ext cx="1570639" cy="652099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err="1">
                <a:solidFill>
                  <a:schemeClr val="accent2">
                    <a:lumMod val="75000"/>
                  </a:schemeClr>
                </a:solidFill>
              </a:rPr>
              <a:t>EfficientLoFTR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 Feature Matcher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B5A038-B735-B893-C4F9-E562ABE258E2}"/>
              </a:ext>
            </a:extLst>
          </p:cNvPr>
          <p:cNvSpPr/>
          <p:nvPr/>
        </p:nvSpPr>
        <p:spPr>
          <a:xfrm>
            <a:off x="7319233" y="3064932"/>
            <a:ext cx="1780989" cy="652099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Dense Feature Correspondence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468C5D-6FC0-1183-2C7A-B0265147A518}"/>
              </a:ext>
            </a:extLst>
          </p:cNvPr>
          <p:cNvSpPr/>
          <p:nvPr/>
        </p:nvSpPr>
        <p:spPr>
          <a:xfrm>
            <a:off x="9499587" y="3060905"/>
            <a:ext cx="1780989" cy="652099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DSMAC Scene Matching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57096B-4EFD-7F4F-9316-6B7BE307FFFD}"/>
              </a:ext>
            </a:extLst>
          </p:cNvPr>
          <p:cNvSpPr/>
          <p:nvPr/>
        </p:nvSpPr>
        <p:spPr>
          <a:xfrm>
            <a:off x="9499587" y="4289068"/>
            <a:ext cx="1780989" cy="652099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Position Estimation &amp; Navigation Update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DDDBF79-37E0-5F1D-71FE-9B7B2BCF4D6B}"/>
              </a:ext>
            </a:extLst>
          </p:cNvPr>
          <p:cNvCxnSpPr>
            <a:stCxn id="20" idx="3"/>
            <a:endCxn id="12" idx="1"/>
          </p:cNvCxnSpPr>
          <p:nvPr/>
        </p:nvCxnSpPr>
        <p:spPr>
          <a:xfrm>
            <a:off x="2375734" y="2166846"/>
            <a:ext cx="578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528A595-0FDF-3598-FBF7-5CE676FA041B}"/>
              </a:ext>
            </a:extLst>
          </p:cNvPr>
          <p:cNvCxnSpPr>
            <a:stCxn id="24" idx="3"/>
            <a:endCxn id="16" idx="1"/>
          </p:cNvCxnSpPr>
          <p:nvPr/>
        </p:nvCxnSpPr>
        <p:spPr>
          <a:xfrm>
            <a:off x="2375733" y="4615119"/>
            <a:ext cx="578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3AEFA15-570C-7D40-5C64-7CA46065A67D}"/>
              </a:ext>
            </a:extLst>
          </p:cNvPr>
          <p:cNvCxnSpPr>
            <a:stCxn id="12" idx="2"/>
            <a:endCxn id="28" idx="0"/>
          </p:cNvCxnSpPr>
          <p:nvPr/>
        </p:nvCxnSpPr>
        <p:spPr>
          <a:xfrm flipH="1">
            <a:off x="3765346" y="2492895"/>
            <a:ext cx="6876" cy="572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8AF1CA-05E3-E132-2B6D-F228A29D9701}"/>
              </a:ext>
            </a:extLst>
          </p:cNvPr>
          <p:cNvCxnSpPr>
            <a:stCxn id="16" idx="0"/>
            <a:endCxn id="28" idx="2"/>
          </p:cNvCxnSpPr>
          <p:nvPr/>
        </p:nvCxnSpPr>
        <p:spPr>
          <a:xfrm flipH="1" flipV="1">
            <a:off x="3765346" y="3717031"/>
            <a:ext cx="6875" cy="572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D2A8DC9-77A1-7508-0EE1-CAAF346710B6}"/>
              </a:ext>
            </a:extLst>
          </p:cNvPr>
          <p:cNvCxnSpPr>
            <a:stCxn id="28" idx="3"/>
            <a:endCxn id="32" idx="1"/>
          </p:cNvCxnSpPr>
          <p:nvPr/>
        </p:nvCxnSpPr>
        <p:spPr>
          <a:xfrm flipV="1">
            <a:off x="4583832" y="3386955"/>
            <a:ext cx="567104" cy="4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0429697-6FCC-5641-5F54-707DC9587067}"/>
              </a:ext>
            </a:extLst>
          </p:cNvPr>
          <p:cNvCxnSpPr>
            <a:stCxn id="32" idx="3"/>
            <a:endCxn id="39" idx="1"/>
          </p:cNvCxnSpPr>
          <p:nvPr/>
        </p:nvCxnSpPr>
        <p:spPr>
          <a:xfrm>
            <a:off x="6721575" y="3386955"/>
            <a:ext cx="597658" cy="4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88A69E3-2B53-CCFD-DD7A-477AA9664E5A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 flipV="1">
            <a:off x="9100222" y="3386955"/>
            <a:ext cx="399365" cy="4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44DAF63-9F58-218F-A594-A685E33A994E}"/>
              </a:ext>
            </a:extLst>
          </p:cNvPr>
          <p:cNvCxnSpPr>
            <a:stCxn id="41" idx="2"/>
            <a:endCxn id="43" idx="0"/>
          </p:cNvCxnSpPr>
          <p:nvPr/>
        </p:nvCxnSpPr>
        <p:spPr>
          <a:xfrm>
            <a:off x="10390082" y="3713004"/>
            <a:ext cx="0" cy="576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919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63E0FE-89A4-0627-A231-7FC33AF4B4E7}"/>
              </a:ext>
            </a:extLst>
          </p:cNvPr>
          <p:cNvSpPr/>
          <p:nvPr/>
        </p:nvSpPr>
        <p:spPr>
          <a:xfrm>
            <a:off x="-1508162" y="328609"/>
            <a:ext cx="4651834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352021-41C5-4A19-A823-2B3021C2E8A9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2642013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References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DCC89-ECE0-5B6E-4665-D842B650C339}"/>
              </a:ext>
            </a:extLst>
          </p:cNvPr>
          <p:cNvSpPr/>
          <p:nvPr/>
        </p:nvSpPr>
        <p:spPr>
          <a:xfrm rot="5400000">
            <a:off x="686011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C24080-1121-8A12-B9AC-49D7776BA6C2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D037-5934-E639-E9EE-C12AAB8F1476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2803D-72F1-25EF-C0A7-B2AB7CBACEAA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10ADA4-A0CF-BEFA-8FF0-49A3CE5946F2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1744E-AB12-7AE6-EFE6-378B7FB60DEF}"/>
              </a:ext>
            </a:extLst>
          </p:cNvPr>
          <p:cNvSpPr txBox="1"/>
          <p:nvPr/>
        </p:nvSpPr>
        <p:spPr>
          <a:xfrm>
            <a:off x="817755" y="1412776"/>
            <a:ext cx="105348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Carr &amp; Sobek, </a:t>
            </a:r>
            <a:r>
              <a:rPr lang="en-US" sz="2000" b="1" dirty="0"/>
              <a:t>Digital Scene Matching Area Correlator (DSMAC), </a:t>
            </a:r>
            <a:r>
              <a:rPr lang="en-US" sz="2000" i="1" dirty="0"/>
              <a:t>Naval Avionics Center</a:t>
            </a:r>
            <a:r>
              <a:rPr lang="en-US" sz="2000" dirty="0"/>
              <a:t>,1980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Irani, M., &amp; Christ, M., </a:t>
            </a:r>
            <a:r>
              <a:rPr lang="en-IN" sz="2000" b="1" dirty="0"/>
              <a:t>Image Processing for Tomahawk Scene Matching</a:t>
            </a:r>
            <a:r>
              <a:rPr lang="en-IN" sz="2000" dirty="0"/>
              <a:t>, </a:t>
            </a:r>
            <a:r>
              <a:rPr lang="en-IN" sz="2000" i="1" dirty="0"/>
              <a:t>Johns Hopkins APL Technical Digest</a:t>
            </a:r>
            <a:r>
              <a:rPr lang="en-IN" sz="2000" dirty="0"/>
              <a:t>, vol. 15, no. 3, pp. 249–257, 1994.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Kashyap, P., et al., </a:t>
            </a:r>
            <a:r>
              <a:rPr lang="en-IN" sz="2000" b="1" dirty="0"/>
              <a:t>Machine Learning Based Solution for DSMAC System in Aerial Navigation</a:t>
            </a:r>
            <a:r>
              <a:rPr lang="en-IN" sz="2000" dirty="0"/>
              <a:t>, 2026.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Rublee, E., </a:t>
            </a:r>
            <a:r>
              <a:rPr lang="en-IN" sz="2000" dirty="0" err="1"/>
              <a:t>Rabaud</a:t>
            </a:r>
            <a:r>
              <a:rPr lang="en-IN" sz="2000" dirty="0"/>
              <a:t>, V., </a:t>
            </a:r>
            <a:r>
              <a:rPr lang="en-IN" sz="2000" dirty="0" err="1"/>
              <a:t>Konolige</a:t>
            </a:r>
            <a:r>
              <a:rPr lang="en-IN" sz="2000" dirty="0"/>
              <a:t>, K., &amp; </a:t>
            </a:r>
            <a:r>
              <a:rPr lang="en-IN" sz="2000" dirty="0" err="1"/>
              <a:t>Bradski</a:t>
            </a:r>
            <a:r>
              <a:rPr lang="en-IN" sz="2000" dirty="0"/>
              <a:t>, G., </a:t>
            </a:r>
            <a:r>
              <a:rPr lang="en-IN" sz="2000" b="1" dirty="0"/>
              <a:t>ORB: An Efficient Alternative to SIFT or SURF</a:t>
            </a:r>
            <a:r>
              <a:rPr lang="en-IN" sz="2000" dirty="0"/>
              <a:t>, </a:t>
            </a:r>
            <a:r>
              <a:rPr lang="en-IN" sz="2000" i="1" dirty="0"/>
              <a:t>Proceedings of ICCV</a:t>
            </a:r>
            <a:r>
              <a:rPr lang="en-IN" sz="2000" dirty="0"/>
              <a:t>, 2011.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Lowe, D. G., </a:t>
            </a:r>
            <a:r>
              <a:rPr lang="en-IN" sz="2000" b="1" dirty="0"/>
              <a:t>Distinctive Image Features from Scale-Invariant </a:t>
            </a:r>
            <a:r>
              <a:rPr lang="en-IN" sz="2000" b="1" dirty="0" err="1"/>
              <a:t>Keypoints</a:t>
            </a:r>
            <a:r>
              <a:rPr lang="en-IN" sz="2000" dirty="0"/>
              <a:t>, </a:t>
            </a:r>
            <a:r>
              <a:rPr lang="en-IN" sz="2000" i="1" dirty="0"/>
              <a:t>International Journal of Computer Vision</a:t>
            </a:r>
            <a:r>
              <a:rPr lang="en-IN" sz="2000" dirty="0"/>
              <a:t>, vol. 60, no. 2, pp. 91–110, 2004.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DeTone, D., </a:t>
            </a:r>
            <a:r>
              <a:rPr lang="en-IN" sz="2000" dirty="0" err="1"/>
              <a:t>Malisiewicz</a:t>
            </a:r>
            <a:r>
              <a:rPr lang="en-IN" sz="2000" dirty="0"/>
              <a:t>, T., &amp; Rabinovich, A., </a:t>
            </a:r>
            <a:r>
              <a:rPr lang="en-IN" sz="2000" b="1" dirty="0" err="1"/>
              <a:t>SuperPoint</a:t>
            </a:r>
            <a:r>
              <a:rPr lang="en-IN" sz="2000" b="1" dirty="0"/>
              <a:t>: Self-Supervised Interest Point Detection and Description</a:t>
            </a:r>
            <a:r>
              <a:rPr lang="en-IN" sz="2000" dirty="0"/>
              <a:t>, </a:t>
            </a:r>
            <a:r>
              <a:rPr lang="en-IN" sz="2000" i="1" dirty="0"/>
              <a:t>CVPR Workshops</a:t>
            </a:r>
            <a:r>
              <a:rPr lang="en-IN" sz="2000" dirty="0"/>
              <a:t>, 2018.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Sarlin, P. E., DeTone, D., </a:t>
            </a:r>
            <a:r>
              <a:rPr lang="en-IN" sz="2000" dirty="0" err="1"/>
              <a:t>Malisiewicz</a:t>
            </a:r>
            <a:r>
              <a:rPr lang="en-IN" sz="2000" dirty="0"/>
              <a:t>, T., &amp; Rabinovich, A., </a:t>
            </a:r>
            <a:r>
              <a:rPr lang="en-IN" sz="2000" b="1" dirty="0" err="1"/>
              <a:t>SuperGlue</a:t>
            </a:r>
            <a:r>
              <a:rPr lang="en-IN" sz="2000" b="1" dirty="0"/>
              <a:t>: Learning Feature Matching with Graph Neural Networks</a:t>
            </a:r>
            <a:r>
              <a:rPr lang="en-IN" sz="2000" dirty="0"/>
              <a:t>, </a:t>
            </a:r>
            <a:r>
              <a:rPr lang="en-IN" sz="2000" i="1" dirty="0"/>
              <a:t>CVPR</a:t>
            </a:r>
            <a:r>
              <a:rPr lang="en-IN" sz="2000" dirty="0"/>
              <a:t>, 2020.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Sun, J., Shen, Z., Wang, Y., Bao, H., &amp; Zhou, X., </a:t>
            </a:r>
            <a:r>
              <a:rPr lang="en-IN" sz="2000" b="1" dirty="0" err="1"/>
              <a:t>LoFTR</a:t>
            </a:r>
            <a:r>
              <a:rPr lang="en-IN" sz="2000" b="1" dirty="0"/>
              <a:t>: Detector-Free Local Feature Matching with Transformers</a:t>
            </a:r>
            <a:r>
              <a:rPr lang="en-IN" sz="2000" dirty="0"/>
              <a:t>, </a:t>
            </a:r>
            <a:r>
              <a:rPr lang="en-IN" sz="2000" i="1" dirty="0"/>
              <a:t>CVPR</a:t>
            </a:r>
            <a:r>
              <a:rPr lang="en-IN" sz="2000" dirty="0"/>
              <a:t>, 2021.</a:t>
            </a:r>
          </a:p>
        </p:txBody>
      </p:sp>
    </p:spTree>
    <p:extLst>
      <p:ext uri="{BB962C8B-B14F-4D97-AF65-F5344CB8AC3E}">
        <p14:creationId xmlns:p14="http://schemas.microsoft.com/office/powerpoint/2010/main" val="1383119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D6459-BF25-FA6C-5077-42509DA8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C57763-32FF-4AF2-E6D7-C0DBEB68F8F0}"/>
              </a:ext>
            </a:extLst>
          </p:cNvPr>
          <p:cNvSpPr/>
          <p:nvPr/>
        </p:nvSpPr>
        <p:spPr>
          <a:xfrm>
            <a:off x="-1508162" y="328609"/>
            <a:ext cx="5587938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42CF20-8FB4-13E5-489B-5208677CC178}"/>
              </a:ext>
            </a:extLst>
          </p:cNvPr>
          <p:cNvSpPr txBox="1">
            <a:spLocks/>
          </p:cNvSpPr>
          <p:nvPr/>
        </p:nvSpPr>
        <p:spPr>
          <a:xfrm>
            <a:off x="357643" y="274968"/>
            <a:ext cx="3506109" cy="78551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References (CONTD.)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ECE11-E5E2-98FB-5534-D3A9D7645953}"/>
              </a:ext>
            </a:extLst>
          </p:cNvPr>
          <p:cNvSpPr/>
          <p:nvPr/>
        </p:nvSpPr>
        <p:spPr>
          <a:xfrm rot="5400000">
            <a:off x="1700698" y="-2064325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ACD7D3-4720-5131-9202-7EDDBBADD6A6}"/>
              </a:ext>
            </a:extLst>
          </p:cNvPr>
          <p:cNvSpPr/>
          <p:nvPr/>
        </p:nvSpPr>
        <p:spPr>
          <a:xfrm rot="5400000">
            <a:off x="-2687609" y="2916430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1C2707-B4DB-834F-BE6A-DDC6FADCBB08}"/>
              </a:ext>
            </a:extLst>
          </p:cNvPr>
          <p:cNvSpPr/>
          <p:nvPr/>
        </p:nvSpPr>
        <p:spPr>
          <a:xfrm>
            <a:off x="10560266" y="6437034"/>
            <a:ext cx="4980755" cy="785513"/>
          </a:xfrm>
          <a:prstGeom prst="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accent5">
                <a:lumMod val="60000"/>
                <a:lumOff val="40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A72E5C-F113-3968-1AA5-5DD1F6575B48}"/>
              </a:ext>
            </a:extLst>
          </p:cNvPr>
          <p:cNvSpPr/>
          <p:nvPr/>
        </p:nvSpPr>
        <p:spPr>
          <a:xfrm rot="5400000">
            <a:off x="9824513" y="3822693"/>
            <a:ext cx="4980755" cy="785513"/>
          </a:xfrm>
          <a:prstGeom prst="rect">
            <a:avLst/>
          </a:prstGeom>
          <a:solidFill>
            <a:srgbClr val="FFC000">
              <a:alpha val="23000"/>
            </a:srgbClr>
          </a:solidFill>
          <a:ln>
            <a:solidFill>
              <a:srgbClr val="FFC000">
                <a:alpha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21845-FF55-43CC-6273-6D2E7DF62B7F}"/>
              </a:ext>
            </a:extLst>
          </p:cNvPr>
          <p:cNvSpPr/>
          <p:nvPr/>
        </p:nvSpPr>
        <p:spPr>
          <a:xfrm rot="5400000">
            <a:off x="7965310" y="8680653"/>
            <a:ext cx="4980755" cy="785513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solidFill>
              <a:schemeClr val="accent1">
                <a:lumMod val="7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>
                  <a:alpha val="46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262F0E-AE7D-D5DB-C64A-DA19F9389991}"/>
              </a:ext>
            </a:extLst>
          </p:cNvPr>
          <p:cNvSpPr txBox="1"/>
          <p:nvPr/>
        </p:nvSpPr>
        <p:spPr>
          <a:xfrm>
            <a:off x="828585" y="1699692"/>
            <a:ext cx="1053482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Wang, Y., et al., </a:t>
            </a:r>
            <a:r>
              <a:rPr lang="en-IN" sz="2000" b="1" dirty="0" err="1"/>
              <a:t>EfficientLoFTR</a:t>
            </a:r>
            <a:r>
              <a:rPr lang="en-IN" sz="2000" b="1" dirty="0"/>
              <a:t>: Semi-Dense Local Feature Matching with Sparse-Like Speed</a:t>
            </a:r>
            <a:r>
              <a:rPr lang="en-IN" sz="2000" dirty="0"/>
              <a:t>, </a:t>
            </a:r>
            <a:r>
              <a:rPr lang="en-IN" sz="2000" i="1" dirty="0"/>
              <a:t>CVPR</a:t>
            </a:r>
            <a:r>
              <a:rPr lang="en-IN" sz="2000" dirty="0"/>
              <a:t>, 2024.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Wang, Q., et al., </a:t>
            </a:r>
            <a:r>
              <a:rPr lang="en-IN" sz="2000" b="1" dirty="0" err="1"/>
              <a:t>MatchFormer</a:t>
            </a:r>
            <a:r>
              <a:rPr lang="en-IN" sz="2000" b="1" dirty="0"/>
              <a:t>: Interleaving Attention in Transformers for Feature Matching</a:t>
            </a:r>
            <a:r>
              <a:rPr lang="en-IN" sz="2000" dirty="0"/>
              <a:t>, </a:t>
            </a:r>
            <a:r>
              <a:rPr lang="en-IN" sz="2000" i="1" dirty="0"/>
              <a:t>Asian Conference on Computer Vision (ACCV)</a:t>
            </a:r>
            <a:r>
              <a:rPr lang="en-IN" sz="2000" dirty="0"/>
              <a:t>, 2022.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Chen, Z., et al., </a:t>
            </a:r>
            <a:r>
              <a:rPr lang="en-IN" sz="2000" b="1" dirty="0" err="1"/>
              <a:t>ASpanFormer</a:t>
            </a:r>
            <a:r>
              <a:rPr lang="en-IN" sz="2000" b="1" dirty="0"/>
              <a:t>: Detector-Free Image Matching with Adaptive Span Transformer</a:t>
            </a:r>
            <a:r>
              <a:rPr lang="en-IN" sz="2000" dirty="0"/>
              <a:t>, </a:t>
            </a:r>
            <a:r>
              <a:rPr lang="en-IN" sz="2000" i="1" dirty="0"/>
              <a:t>ECCV</a:t>
            </a:r>
            <a:r>
              <a:rPr lang="en-IN" sz="2000" dirty="0"/>
              <a:t>, 2022.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Edstedt</a:t>
            </a:r>
            <a:r>
              <a:rPr lang="en-IN" sz="2000" dirty="0"/>
              <a:t>, J., et al., </a:t>
            </a:r>
            <a:r>
              <a:rPr lang="en-IN" sz="2000" b="1" dirty="0" err="1"/>
              <a:t>RoMa</a:t>
            </a:r>
            <a:r>
              <a:rPr lang="en-IN" sz="2000" b="1" dirty="0"/>
              <a:t>: Robust Dense Feature Matching</a:t>
            </a:r>
            <a:r>
              <a:rPr lang="en-IN" sz="2000" dirty="0"/>
              <a:t>, </a:t>
            </a:r>
            <a:r>
              <a:rPr lang="en-IN" sz="2000" i="1" dirty="0"/>
              <a:t>CVPR</a:t>
            </a:r>
            <a:r>
              <a:rPr lang="en-IN" sz="2000" dirty="0"/>
              <a:t>, 2024.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Lindenberger, P., Sarlin, P. E., &amp; </a:t>
            </a:r>
            <a:r>
              <a:rPr lang="en-IN" sz="2000" dirty="0" err="1"/>
              <a:t>Pollefeys</a:t>
            </a:r>
            <a:r>
              <a:rPr lang="en-IN" sz="2000" dirty="0"/>
              <a:t>, M., </a:t>
            </a:r>
            <a:r>
              <a:rPr lang="en-IN" sz="2000" b="1" dirty="0" err="1"/>
              <a:t>LightGlue</a:t>
            </a:r>
            <a:r>
              <a:rPr lang="en-IN" sz="2000" b="1" dirty="0"/>
              <a:t>: Local Feature Matching at Light Speed</a:t>
            </a:r>
            <a:r>
              <a:rPr lang="en-IN" sz="2000" dirty="0"/>
              <a:t>, </a:t>
            </a:r>
            <a:r>
              <a:rPr lang="en-IN" sz="2000" i="1" dirty="0"/>
              <a:t>ICCV</a:t>
            </a:r>
            <a:r>
              <a:rPr lang="en-IN" sz="2000" dirty="0"/>
              <a:t>, 2023.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Johnson, J., </a:t>
            </a:r>
            <a:r>
              <a:rPr lang="en-IN" sz="2000" dirty="0" err="1"/>
              <a:t>Douze</a:t>
            </a:r>
            <a:r>
              <a:rPr lang="en-IN" sz="2000" dirty="0"/>
              <a:t>, M., &amp; Jégou, H., </a:t>
            </a:r>
            <a:r>
              <a:rPr lang="en-IN" sz="2000" b="1" dirty="0"/>
              <a:t>Billion-Scale Similarity Search with GPUs</a:t>
            </a:r>
            <a:r>
              <a:rPr lang="en-IN" sz="2000" dirty="0"/>
              <a:t>, </a:t>
            </a:r>
            <a:r>
              <a:rPr lang="en-IN" sz="2000" i="1" dirty="0"/>
              <a:t>IEEE Transactions on Big Data</a:t>
            </a:r>
            <a:r>
              <a:rPr lang="en-IN" sz="2000" dirty="0"/>
              <a:t>, 2021.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He, K., Zhang, X., Ren, S., &amp; Sun, J., </a:t>
            </a:r>
            <a:r>
              <a:rPr lang="en-IN" sz="2000" b="1" dirty="0"/>
              <a:t>Deep Residual Learning for Image Recognition</a:t>
            </a:r>
            <a:r>
              <a:rPr lang="en-IN" sz="2000" dirty="0"/>
              <a:t>, </a:t>
            </a:r>
            <a:r>
              <a:rPr lang="en-IN" sz="2000" i="1" dirty="0"/>
              <a:t>CVPR</a:t>
            </a:r>
            <a:r>
              <a:rPr lang="en-IN" sz="2000" dirty="0"/>
              <a:t>, 2016.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Vaswani, A., et al., </a:t>
            </a:r>
            <a:r>
              <a:rPr lang="en-IN" sz="2000" b="1" dirty="0"/>
              <a:t>Attention Is All You Need</a:t>
            </a:r>
            <a:r>
              <a:rPr lang="en-IN" sz="2000" dirty="0"/>
              <a:t>, </a:t>
            </a:r>
            <a:r>
              <a:rPr lang="en-IN" sz="2000" i="1" dirty="0" err="1"/>
              <a:t>NeurIPS</a:t>
            </a:r>
            <a:r>
              <a:rPr lang="en-IN" sz="2000" dirty="0"/>
              <a:t>, 2017.</a:t>
            </a:r>
          </a:p>
        </p:txBody>
      </p:sp>
    </p:spTree>
    <p:extLst>
      <p:ext uri="{BB962C8B-B14F-4D97-AF65-F5344CB8AC3E}">
        <p14:creationId xmlns:p14="http://schemas.microsoft.com/office/powerpoint/2010/main" val="381517151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DSMAC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3A7D22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5789</TotalTime>
  <Words>1745</Words>
  <Application>Microsoft Office PowerPoint</Application>
  <PresentationFormat>Widescreen</PresentationFormat>
  <Paragraphs>326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Oswald SemiBold</vt:lpstr>
      <vt:lpstr>Univers Condensed Light</vt:lpstr>
      <vt:lpstr>Orange Experience</vt:lpstr>
      <vt:lpstr>Cross-spectral DSMAC</vt:lpstr>
      <vt:lpstr>Table of Contents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Monarch Teenihom</dc:creator>
  <cp:lastModifiedBy>Monarch Teenihom</cp:lastModifiedBy>
  <cp:revision>5</cp:revision>
  <dcterms:created xsi:type="dcterms:W3CDTF">2026-08-06T17:12:42Z</dcterms:created>
  <dcterms:modified xsi:type="dcterms:W3CDTF">2026-08-10T17:45:59Z</dcterms:modified>
</cp:coreProperties>
</file>